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274" r:id="rId2"/>
    <p:sldId id="290" r:id="rId3"/>
    <p:sldId id="291" r:id="rId4"/>
    <p:sldId id="292" r:id="rId5"/>
    <p:sldId id="293" r:id="rId6"/>
    <p:sldId id="294" r:id="rId7"/>
    <p:sldId id="296" r:id="rId8"/>
    <p:sldId id="297" r:id="rId9"/>
    <p:sldId id="302" r:id="rId10"/>
    <p:sldId id="303" r:id="rId11"/>
    <p:sldId id="304" r:id="rId12"/>
    <p:sldId id="305" r:id="rId13"/>
    <p:sldId id="306" r:id="rId14"/>
    <p:sldId id="300" r:id="rId15"/>
    <p:sldId id="301" r:id="rId16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ile medio 2 - Color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Stile medio 2 - Colore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EB344D84-9AFB-497E-A393-DC336BA19D2E}" styleName="Stile medio 3 - Colore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505E3EF-67EA-436B-97B2-0124C06EBD24}" styleName="Stile medio 4 - Colore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E8034E78-7F5D-4C2E-B375-FC64B27BC917}" styleName="Stile scuro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8799B23B-EC83-4686-B30A-512413B5E67A}" styleName="Stile chiaro 3 - Color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010" autoAdjust="0"/>
    <p:restoredTop sz="93447" autoAdjust="0"/>
  </p:normalViewPr>
  <p:slideViewPr>
    <p:cSldViewPr snapToGrid="0">
      <p:cViewPr varScale="1">
        <p:scale>
          <a:sx n="59" d="100"/>
          <a:sy n="59" d="100"/>
        </p:scale>
        <p:origin x="772" y="52"/>
      </p:cViewPr>
      <p:guideLst/>
    </p:cSldViewPr>
  </p:slideViewPr>
  <p:outlineViewPr>
    <p:cViewPr>
      <p:scale>
        <a:sx n="33" d="100"/>
        <a:sy n="33" d="100"/>
      </p:scale>
      <p:origin x="0" y="-988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386FA11-FF12-4F18-A8E9-3BE66362BAFB}" type="datetimeFigureOut">
              <a:rPr lang="it-IT" smtClean="0"/>
              <a:t>06/12/2025</a:t>
            </a:fld>
            <a:endParaRPr lang="it-IT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t-IT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EE0B72B-FC4F-4D8D-9F52-A9EC0BA74FF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2600641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 latinLnBrk="0"/>
            <a:endParaRPr lang="it-IT" sz="1200" dirty="0"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E7D7B2-511C-5746-97D1-507EEDB38854}" type="slidenum">
              <a:rPr lang="it-IT" smtClean="0"/>
              <a:t>1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77311081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ottotito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DAA064-6915-4AB8-A3C1-DF6AD97F2237}" type="datetime1">
              <a:rPr lang="it-IT" smtClean="0"/>
              <a:t>06/12/2025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6F1F60-276D-4D50-A9DC-4BB81AAB1B3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1824906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FD40AD-CEF3-4236-8A9F-0E97F2784D5E}" type="datetime1">
              <a:rPr lang="it-IT" smtClean="0"/>
              <a:t>06/12/2025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6F1F60-276D-4D50-A9DC-4BB81AAB1B3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9049866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2F8E7B-F139-47DA-ADEE-39A085DF4859}" type="datetime1">
              <a:rPr lang="it-IT" smtClean="0"/>
              <a:t>06/12/2025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6F1F60-276D-4D50-A9DC-4BB81AAB1B3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1249728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4C0CC5-745E-407B-BAA8-63C62E6DC4D7}" type="datetime1">
              <a:rPr lang="it-IT" smtClean="0"/>
              <a:t>06/12/2025</a:t>
            </a:fld>
            <a:endParaRPr lang="it-IT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6F1F60-276D-4D50-A9DC-4BB81AAB1B3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6127794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tes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6" name="Segnaposto contenut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7" name="Segnaposto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C73AF9-FE36-45FD-B325-939F50A960EF}" type="datetime1">
              <a:rPr lang="it-IT" smtClean="0"/>
              <a:t>06/12/2025</a:t>
            </a:fld>
            <a:endParaRPr lang="it-IT"/>
          </a:p>
        </p:txBody>
      </p:sp>
      <p:sp>
        <p:nvSpPr>
          <p:cNvPr id="8" name="Segnaposto piè di pa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numero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6F1F60-276D-4D50-A9DC-4BB81AAB1B3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734179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9F76A8-65DA-4E2D-BCB6-A92DC340B26C}" type="datetime1">
              <a:rPr lang="it-IT" smtClean="0"/>
              <a:t>06/12/2025</a:t>
            </a:fld>
            <a:endParaRPr lang="it-IT"/>
          </a:p>
        </p:txBody>
      </p:sp>
      <p:sp>
        <p:nvSpPr>
          <p:cNvPr id="4" name="Segnaposto piè di pa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egnaposto numero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6F1F60-276D-4D50-A9DC-4BB81AAB1B3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2407530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F0A2B6-8DF2-4F74-A195-35B5F82C36C6}" type="datetime1">
              <a:rPr lang="it-IT" smtClean="0"/>
              <a:t>06/12/2025</a:t>
            </a:fld>
            <a:endParaRPr lang="it-IT"/>
          </a:p>
        </p:txBody>
      </p:sp>
      <p:sp>
        <p:nvSpPr>
          <p:cNvPr id="3" name="Segnaposto piè di pa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6F1F60-276D-4D50-A9DC-4BB81AAB1B3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2710175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C260D2-41E2-4BF4-AF15-AEE4EA2D9FE9}" type="datetime1">
              <a:rPr lang="it-IT" smtClean="0"/>
              <a:t>06/12/2025</a:t>
            </a:fld>
            <a:endParaRPr lang="it-IT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6F1F60-276D-4D50-A9DC-4BB81AAB1B3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7763921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immagine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FCB66D-E9F5-4C23-9DF9-EA31ECCAB812}" type="datetime1">
              <a:rPr lang="it-IT" smtClean="0"/>
              <a:t>06/12/2025</a:t>
            </a:fld>
            <a:endParaRPr lang="it-IT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6F1F60-276D-4D50-A9DC-4BB81AAB1B3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2937984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D208CA-D178-47F6-A66D-EA8729AF5D9F}" type="datetime1">
              <a:rPr lang="it-IT" smtClean="0"/>
              <a:t>06/12/2025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6F1F60-276D-4D50-A9DC-4BB81AAB1B3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1298150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202A79-1BB3-4436-949F-3A2E6F5B3ADA}" type="datetime1">
              <a:rPr lang="it-IT" smtClean="0"/>
              <a:t>06/12/2025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6F1F60-276D-4D50-A9DC-4BB81AAB1B3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94025533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pertina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Sfondo diapositiva" descr="Università degli Studi di Firenze. &#10;&#10;Sfondo blu istituzionale con Salomone e logo di ateneo.">
            <a:extLst>
              <a:ext uri="{FF2B5EF4-FFF2-40B4-BE49-F238E27FC236}">
                <a16:creationId xmlns:a16="http://schemas.microsoft.com/office/drawing/2014/main" id="{F200A84E-7986-C941-8FF7-A4CA8D08C69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itolo relazione">
            <a:extLst>
              <a:ext uri="{FF2B5EF4-FFF2-40B4-BE49-F238E27FC236}">
                <a16:creationId xmlns:a16="http://schemas.microsoft.com/office/drawing/2014/main" id="{05BBF5B6-31C4-4BDC-A474-09BF69D00B5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89068" y="2330164"/>
            <a:ext cx="10515600" cy="795080"/>
          </a:xfrm>
          <a:prstGeom prst="rect">
            <a:avLst/>
          </a:prstGeom>
        </p:spPr>
        <p:txBody>
          <a:bodyPr/>
          <a:lstStyle>
            <a:lvl1pPr>
              <a:defRPr sz="5000" b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it-IT" sz="5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Titolo_Verdana</a:t>
            </a:r>
            <a:r>
              <a:rPr lang="it-IT" sz="5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it-IT" sz="5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Bold</a:t>
            </a:r>
            <a:r>
              <a:rPr lang="it-IT" sz="5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50pt</a:t>
            </a:r>
          </a:p>
        </p:txBody>
      </p:sp>
      <p:sp>
        <p:nvSpPr>
          <p:cNvPr id="9" name="Sottotitolo relazione">
            <a:extLst>
              <a:ext uri="{FF2B5EF4-FFF2-40B4-BE49-F238E27FC236}">
                <a16:creationId xmlns:a16="http://schemas.microsoft.com/office/drawing/2014/main" id="{475FD1B4-BD36-4041-A9C9-DAF49CEB83E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589068" y="3247578"/>
            <a:ext cx="10515600" cy="795079"/>
          </a:xfrm>
          <a:prstGeom prst="rect">
            <a:avLst/>
          </a:prstGeom>
        </p:spPr>
        <p:txBody>
          <a:bodyPr/>
          <a:lstStyle>
            <a:lvl1pPr marL="7938" indent="0">
              <a:buNone/>
              <a:tabLst/>
              <a:defRPr sz="400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/>
            <a:r>
              <a:rPr lang="it-IT" dirty="0" err="1"/>
              <a:t>Sottotitolo_Verdana</a:t>
            </a:r>
            <a:r>
              <a:rPr lang="it-IT" dirty="0"/>
              <a:t> 40pt</a:t>
            </a:r>
          </a:p>
        </p:txBody>
      </p:sp>
      <p:sp>
        <p:nvSpPr>
          <p:cNvPr id="11" name="Nome e cognome relatore">
            <a:extLst>
              <a:ext uri="{FF2B5EF4-FFF2-40B4-BE49-F238E27FC236}">
                <a16:creationId xmlns:a16="http://schemas.microsoft.com/office/drawing/2014/main" id="{FDB9FF1D-DAE9-4957-B599-C6B8B209B80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589619" y="4433563"/>
            <a:ext cx="6994887" cy="376437"/>
          </a:xfrm>
          <a:prstGeom prst="rect">
            <a:avLst/>
          </a:prstGeom>
        </p:spPr>
        <p:txBody>
          <a:bodyPr>
            <a:noAutofit/>
          </a:bodyPr>
          <a:lstStyle>
            <a:lvl1pPr marL="7938" indent="0">
              <a:buNone/>
              <a:tabLst/>
              <a:defRPr sz="250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/>
            <a:r>
              <a:rPr lang="it-IT" dirty="0" err="1"/>
              <a:t>Relatore_Verdana</a:t>
            </a:r>
            <a:r>
              <a:rPr lang="it-IT" dirty="0"/>
              <a:t> 25pt</a:t>
            </a:r>
          </a:p>
        </p:txBody>
      </p:sp>
      <p:sp>
        <p:nvSpPr>
          <p:cNvPr id="13" name="Ruolo relatore">
            <a:extLst>
              <a:ext uri="{FF2B5EF4-FFF2-40B4-BE49-F238E27FC236}">
                <a16:creationId xmlns:a16="http://schemas.microsoft.com/office/drawing/2014/main" id="{1BDCF4A3-46D7-4603-8D04-616F017FCBC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589617" y="4915518"/>
            <a:ext cx="7295512" cy="304988"/>
          </a:xfrm>
          <a:prstGeom prst="rect">
            <a:avLst/>
          </a:prstGeom>
        </p:spPr>
        <p:txBody>
          <a:bodyPr>
            <a:noAutofit/>
          </a:bodyPr>
          <a:lstStyle>
            <a:lvl1pPr marL="7938" indent="0">
              <a:buNone/>
              <a:tabLst/>
              <a:defRPr sz="1800" i="0" u="none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/>
            <a:r>
              <a:rPr lang="it-IT" dirty="0"/>
              <a:t>Ruolo </a:t>
            </a:r>
            <a:r>
              <a:rPr lang="it-IT" dirty="0" err="1"/>
              <a:t>relatore_Verdana</a:t>
            </a:r>
            <a:r>
              <a:rPr lang="it-IT" dirty="0"/>
              <a:t> 18pt</a:t>
            </a:r>
          </a:p>
        </p:txBody>
      </p:sp>
    </p:spTree>
    <p:extLst>
      <p:ext uri="{BB962C8B-B14F-4D97-AF65-F5344CB8AC3E}">
        <p14:creationId xmlns:p14="http://schemas.microsoft.com/office/powerpoint/2010/main" val="198476573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nterna_solo tes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Sfondo diapositiva" descr="Sfondo bianco con logo dell'Università degli Studi di Firenze e Salomone.">
            <a:extLst>
              <a:ext uri="{FF2B5EF4-FFF2-40B4-BE49-F238E27FC236}">
                <a16:creationId xmlns:a16="http://schemas.microsoft.com/office/drawing/2014/main" id="{AAF2BE35-58D0-BA41-B3DA-597B679ADF8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2" name="Dati generali relazione">
            <a:extLst>
              <a:ext uri="{FF2B5EF4-FFF2-40B4-BE49-F238E27FC236}">
                <a16:creationId xmlns:a16="http://schemas.microsoft.com/office/drawing/2014/main" id="{37D8B424-C818-4FA2-9F43-383AC97ADC6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8777" y="6607580"/>
            <a:ext cx="10120335" cy="250425"/>
          </a:xfrm>
          <a:prstGeom prst="rect">
            <a:avLst/>
          </a:prstGeom>
        </p:spPr>
        <p:txBody>
          <a:bodyPr/>
          <a:lstStyle>
            <a:lvl1pPr>
              <a:buNone/>
              <a:defRPr sz="1100" b="0" i="0">
                <a:solidFill>
                  <a:schemeClr val="bg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it-IT" dirty="0"/>
              <a:t>Titolo Sottotitolo _ Relatore | Carica relatore (</a:t>
            </a:r>
            <a:r>
              <a:rPr lang="it-IT" dirty="0" err="1"/>
              <a:t>Verdana</a:t>
            </a:r>
            <a:r>
              <a:rPr lang="it-IT" dirty="0"/>
              <a:t> 11pt)</a:t>
            </a:r>
          </a:p>
        </p:txBody>
      </p:sp>
      <p:sp>
        <p:nvSpPr>
          <p:cNvPr id="7" name="Numero slide">
            <a:extLst>
              <a:ext uri="{FF2B5EF4-FFF2-40B4-BE49-F238E27FC236}">
                <a16:creationId xmlns:a16="http://schemas.microsoft.com/office/drawing/2014/main" id="{FA9D60FB-E0F4-46D2-B15D-4CAD34B259A1}"/>
              </a:ext>
            </a:extLst>
          </p:cNvPr>
          <p:cNvSpPr txBox="1"/>
          <p:nvPr userDrawn="1"/>
        </p:nvSpPr>
        <p:spPr>
          <a:xfrm>
            <a:off x="10399004" y="6598099"/>
            <a:ext cx="1358760" cy="2616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r"/>
            <a:fld id="{5ED436A0-D5FC-479D-9D1C-A714A6CDB9F8}" type="slidenum">
              <a:rPr lang="it-IT" sz="1100" b="1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pPr algn="r"/>
              <a:t>‹N›</a:t>
            </a:fld>
            <a:endParaRPr lang="it-IT" sz="1100" b="1" dirty="0" err="1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8" name="Testo diapositiva">
            <a:extLst>
              <a:ext uri="{FF2B5EF4-FFF2-40B4-BE49-F238E27FC236}">
                <a16:creationId xmlns:a16="http://schemas.microsoft.com/office/drawing/2014/main" id="{344E0AE5-EDEF-46FF-879E-9278F8E8B08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75868" y="1822125"/>
            <a:ext cx="10981895" cy="4470050"/>
          </a:xfrm>
          <a:prstGeom prst="rect">
            <a:avLst/>
          </a:prstGeom>
        </p:spPr>
        <p:txBody>
          <a:bodyPr/>
          <a:lstStyle>
            <a:lvl1pPr marL="7938" indent="0">
              <a:lnSpc>
                <a:spcPct val="150000"/>
              </a:lnSpc>
              <a:buFont typeface="Courier New" panose="02070309020205020404" pitchFamily="49" charset="0"/>
              <a:buNone/>
              <a:tabLst/>
              <a:defRPr sz="18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>
              <a:buFont typeface="Courier New" panose="02070309020205020404" pitchFamily="49" charset="0"/>
              <a:buChar char="o"/>
              <a:defRPr sz="18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>
              <a:buFont typeface="Courier New" panose="02070309020205020404" pitchFamily="49" charset="0"/>
              <a:buChar char="o"/>
              <a:defRPr sz="18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>
              <a:buFont typeface="Courier New" panose="02070309020205020404" pitchFamily="49" charset="0"/>
              <a:buChar char="o"/>
              <a:defRPr sz="18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4pPr>
            <a:lvl5pPr>
              <a:buFont typeface="Courier New" panose="02070309020205020404" pitchFamily="49" charset="0"/>
              <a:buChar char="o"/>
              <a:defRPr sz="18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5pPr>
          </a:lstStyle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  <p:sp>
        <p:nvSpPr>
          <p:cNvPr id="9" name="Titolo diapositiva">
            <a:extLst>
              <a:ext uri="{FF2B5EF4-FFF2-40B4-BE49-F238E27FC236}">
                <a16:creationId xmlns:a16="http://schemas.microsoft.com/office/drawing/2014/main" id="{B1A728D7-4BF7-BE41-A0AF-2F9CA93A2C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5869" y="958052"/>
            <a:ext cx="8794143" cy="854592"/>
          </a:xfrm>
          <a:prstGeom prst="rect">
            <a:avLst/>
          </a:prstGeom>
        </p:spPr>
        <p:txBody>
          <a:bodyPr/>
          <a:lstStyle>
            <a:lvl1pPr>
              <a:defRPr sz="2200" b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it-IT" dirty="0"/>
              <a:t>Fare clic per modificare lo stile del titolo dello schema</a:t>
            </a:r>
          </a:p>
        </p:txBody>
      </p:sp>
    </p:spTree>
    <p:extLst>
      <p:ext uri="{BB962C8B-B14F-4D97-AF65-F5344CB8AC3E}">
        <p14:creationId xmlns:p14="http://schemas.microsoft.com/office/powerpoint/2010/main" val="3300188044"/>
      </p:ext>
    </p:extLst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6258C3-15E7-4F55-962B-C6A247E28486}" type="datetime1">
              <a:rPr lang="it-IT" smtClean="0"/>
              <a:t>06/12/2025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96F1F60-276D-4D50-A9DC-4BB81AAB1B3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7212275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olo 9">
            <a:extLst>
              <a:ext uri="{FF2B5EF4-FFF2-40B4-BE49-F238E27FC236}">
                <a16:creationId xmlns:a16="http://schemas.microsoft.com/office/drawing/2014/main" id="{55688C8B-20B5-944F-B9EB-AAB0D3AE43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330164"/>
            <a:ext cx="10515600" cy="795080"/>
          </a:xfrm>
        </p:spPr>
        <p:txBody>
          <a:bodyPr>
            <a:normAutofit fontScale="90000"/>
          </a:bodyPr>
          <a:lstStyle/>
          <a:p>
            <a:pPr algn="ctr"/>
            <a:r>
              <a:rPr lang="it-IT" dirty="0"/>
              <a:t>Istruzione e divorzio: stabilità o cambiamento? </a:t>
            </a:r>
            <a:endParaRPr lang="it-IT" b="1" dirty="0"/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EBA1D192-B2AD-1940-A7A8-A8A832120CD8}"/>
              </a:ext>
            </a:extLst>
          </p:cNvPr>
          <p:cNvSpPr txBox="1"/>
          <p:nvPr/>
        </p:nvSpPr>
        <p:spPr>
          <a:xfrm>
            <a:off x="2016197" y="4354286"/>
            <a:ext cx="8159606" cy="7848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45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Lapo Bettarini e Luca Solito</a:t>
            </a:r>
          </a:p>
        </p:txBody>
      </p:sp>
    </p:spTree>
    <p:extLst>
      <p:ext uri="{BB962C8B-B14F-4D97-AF65-F5344CB8AC3E}">
        <p14:creationId xmlns:p14="http://schemas.microsoft.com/office/powerpoint/2010/main" val="32567173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esto 1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it-IT" dirty="0"/>
          </a:p>
          <a:p>
            <a:endParaRPr lang="it-IT" dirty="0"/>
          </a:p>
        </p:txBody>
      </p:sp>
      <p:sp>
        <p:nvSpPr>
          <p:cNvPr id="3" name="Segnaposto testo 2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/>
          </a:bodyPr>
          <a:lstStyle/>
          <a:p>
            <a:pPr marL="0" algn="just">
              <a:lnSpc>
                <a:spcPct val="120000"/>
              </a:lnSpc>
              <a:spcBef>
                <a:spcPts val="0"/>
              </a:spcBef>
            </a:pPr>
            <a:r>
              <a:rPr lang="it-IT" sz="2000" dirty="0">
                <a:latin typeface="+mn-lt"/>
              </a:rPr>
              <a:t>Teoria della Seconda Transizione Demografica (</a:t>
            </a:r>
            <a:r>
              <a:rPr lang="it-IT" sz="2000" dirty="0" err="1">
                <a:latin typeface="+mn-lt"/>
              </a:rPr>
              <a:t>Lesthaeghe</a:t>
            </a:r>
            <a:r>
              <a:rPr lang="it-IT" sz="2000" dirty="0">
                <a:latin typeface="+mn-lt"/>
              </a:rPr>
              <a:t> e Van de </a:t>
            </a:r>
            <a:r>
              <a:rPr lang="it-IT" sz="2000" dirty="0" err="1">
                <a:latin typeface="+mn-lt"/>
              </a:rPr>
              <a:t>Kaa</a:t>
            </a:r>
            <a:r>
              <a:rPr lang="it-IT" sz="2000" dirty="0">
                <a:latin typeface="+mn-lt"/>
              </a:rPr>
              <a:t>): l’aumento dei divorzi nasce da cambiamenti culturali e valoriali che iniziano tra le avanguardie sociali, in particolare tra i più istruiti.</a:t>
            </a:r>
          </a:p>
          <a:p>
            <a:pPr marL="0" algn="just">
              <a:lnSpc>
                <a:spcPct val="120000"/>
              </a:lnSpc>
              <a:spcBef>
                <a:spcPts val="0"/>
              </a:spcBef>
            </a:pPr>
            <a:r>
              <a:rPr lang="it-IT" sz="2000" b="1" dirty="0">
                <a:latin typeface="+mn-lt"/>
              </a:rPr>
              <a:t>Ritardo dell’Italia rispetto all’Europa occidentale</a:t>
            </a:r>
            <a:r>
              <a:rPr lang="it-IT" sz="2000" dirty="0">
                <a:latin typeface="+mn-lt"/>
              </a:rPr>
              <a:t>.</a:t>
            </a:r>
          </a:p>
          <a:p>
            <a:pPr lvl="1" algn="just">
              <a:lnSpc>
                <a:spcPct val="120000"/>
              </a:lnSpc>
              <a:spcBef>
                <a:spcPts val="0"/>
              </a:spcBef>
            </a:pPr>
            <a:r>
              <a:rPr lang="it-IT" sz="2000" dirty="0">
                <a:latin typeface="+mn-lt"/>
              </a:rPr>
              <a:t>Divorzio introdotto solo nel 1970.</a:t>
            </a:r>
          </a:p>
          <a:p>
            <a:pPr lvl="1" algn="just">
              <a:lnSpc>
                <a:spcPct val="120000"/>
              </a:lnSpc>
              <a:spcBef>
                <a:spcPts val="0"/>
              </a:spcBef>
            </a:pPr>
            <a:r>
              <a:rPr lang="it-IT" sz="2000" dirty="0">
                <a:latin typeface="+mn-lt"/>
              </a:rPr>
              <a:t>Crescita più stabile e marcata solo da metà anni ’90: dal 1995 al 2010 il tasso di divorzio raddoppia, da 80 a quasi 180 divorzi ogni 1000 matrimoni.</a:t>
            </a:r>
          </a:p>
          <a:p>
            <a:pPr lvl="1" algn="just">
              <a:lnSpc>
                <a:spcPct val="120000"/>
              </a:lnSpc>
              <a:spcBef>
                <a:spcPts val="0"/>
              </a:spcBef>
            </a:pPr>
            <a:r>
              <a:rPr lang="it-IT" sz="2000" dirty="0">
                <a:latin typeface="+mn-lt"/>
              </a:rPr>
              <a:t>Boom nel 2015: semplificazione degli scioglimenti consensuali e «divorzio breve».</a:t>
            </a:r>
          </a:p>
          <a:p>
            <a:pPr marL="0" algn="just">
              <a:lnSpc>
                <a:spcPct val="120000"/>
              </a:lnSpc>
              <a:spcBef>
                <a:spcPts val="0"/>
              </a:spcBef>
            </a:pPr>
            <a:r>
              <a:rPr lang="it-IT" sz="2000" dirty="0">
                <a:latin typeface="+mn-lt"/>
              </a:rPr>
              <a:t>Cause del ritardo:</a:t>
            </a:r>
          </a:p>
          <a:p>
            <a:pPr lvl="1" algn="just">
              <a:lnSpc>
                <a:spcPct val="120000"/>
              </a:lnSpc>
              <a:spcBef>
                <a:spcPts val="0"/>
              </a:spcBef>
            </a:pPr>
            <a:r>
              <a:rPr lang="it-IT" sz="2000" dirty="0">
                <a:latin typeface="+mn-lt"/>
              </a:rPr>
              <a:t>Influenza della Chiesa cattolica.</a:t>
            </a:r>
          </a:p>
          <a:p>
            <a:pPr lvl="1" algn="just">
              <a:lnSpc>
                <a:spcPct val="120000"/>
              </a:lnSpc>
              <a:spcBef>
                <a:spcPts val="0"/>
              </a:spcBef>
            </a:pPr>
            <a:r>
              <a:rPr lang="it-IT" sz="2000" dirty="0">
                <a:latin typeface="+mn-lt"/>
              </a:rPr>
              <a:t>Importanza della famiglia tradizionale. </a:t>
            </a:r>
          </a:p>
          <a:p>
            <a:pPr marL="457200" lvl="1" indent="0" algn="just">
              <a:lnSpc>
                <a:spcPct val="120000"/>
              </a:lnSpc>
              <a:spcBef>
                <a:spcPts val="0"/>
              </a:spcBef>
              <a:buNone/>
            </a:pPr>
            <a:r>
              <a:rPr lang="it-IT" sz="2000" dirty="0">
                <a:latin typeface="+mn-lt"/>
                <a:sym typeface="Wingdings" panose="05000000000000000000" pitchFamily="2" charset="2"/>
              </a:rPr>
              <a:t> </a:t>
            </a:r>
            <a:r>
              <a:rPr lang="it-IT" sz="2000" dirty="0">
                <a:latin typeface="+mn-lt"/>
              </a:rPr>
              <a:t>l’Italia rimane uno dei Paesi occidentali con i tassi più contenuti di separazioni e divorzi.</a:t>
            </a:r>
          </a:p>
          <a:p>
            <a:endParaRPr lang="it-IT" dirty="0"/>
          </a:p>
        </p:txBody>
      </p:sp>
      <p:sp>
        <p:nvSpPr>
          <p:cNvPr id="4" name="Titolo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>
                <a:solidFill>
                  <a:prstClr val="black"/>
                </a:solidFill>
              </a:rPr>
              <a:t>Il contesto italiano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8226593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testo 2"/>
          <p:cNvSpPr>
            <a:spLocks noGrp="1"/>
          </p:cNvSpPr>
          <p:nvPr>
            <p:ph type="body" sz="quarter" idx="13"/>
          </p:nvPr>
        </p:nvSpPr>
        <p:spPr/>
        <p:txBody>
          <a:bodyPr>
            <a:noAutofit/>
          </a:bodyPr>
          <a:lstStyle/>
          <a:p>
            <a:pPr marL="0" algn="just">
              <a:lnSpc>
                <a:spcPct val="130000"/>
              </a:lnSpc>
              <a:spcBef>
                <a:spcPts val="0"/>
              </a:spcBef>
            </a:pPr>
            <a:r>
              <a:rPr lang="it-IT" sz="2000" dirty="0">
                <a:latin typeface="+mn-lt"/>
                <a:cs typeface="Arial" panose="020B0604020202020204" pitchFamily="34" charset="0"/>
              </a:rPr>
              <a:t>Ipotesi di </a:t>
            </a:r>
            <a:r>
              <a:rPr lang="it-IT" sz="2000" dirty="0" err="1">
                <a:latin typeface="+mn-lt"/>
                <a:cs typeface="Arial" panose="020B0604020202020204" pitchFamily="34" charset="0"/>
              </a:rPr>
              <a:t>Goode</a:t>
            </a:r>
            <a:r>
              <a:rPr lang="it-IT" sz="2000" dirty="0">
                <a:latin typeface="+mn-lt"/>
                <a:cs typeface="Arial" panose="020B0604020202020204" pitchFamily="34" charset="0"/>
              </a:rPr>
              <a:t>, 1970:</a:t>
            </a:r>
          </a:p>
          <a:p>
            <a:pPr marL="293688" indent="-285750" algn="just">
              <a:lnSpc>
                <a:spcPct val="130000"/>
              </a:lnSpc>
              <a:spcBef>
                <a:spcPts val="0"/>
              </a:spcBef>
              <a:buFont typeface="Courier New" panose="02070309020205020404" pitchFamily="49" charset="0"/>
              <a:buChar char="•"/>
            </a:pPr>
            <a:r>
              <a:rPr lang="it-IT" sz="2000" dirty="0">
                <a:latin typeface="+mn-lt"/>
                <a:cs typeface="Arial" panose="020B0604020202020204" pitchFamily="34" charset="0"/>
              </a:rPr>
              <a:t>Identifica chi sono i «</a:t>
            </a:r>
            <a:r>
              <a:rPr lang="it-IT" sz="2000" dirty="0" err="1">
                <a:latin typeface="+mn-lt"/>
                <a:cs typeface="Arial" panose="020B0604020202020204" pitchFamily="34" charset="0"/>
              </a:rPr>
              <a:t>pioneri</a:t>
            </a:r>
            <a:r>
              <a:rPr lang="it-IT" sz="2000" dirty="0">
                <a:latin typeface="+mn-lt"/>
                <a:cs typeface="Arial" panose="020B0604020202020204" pitchFamily="34" charset="0"/>
              </a:rPr>
              <a:t>» del divorzio e la sua evoluzione temporale tramite il gradiente d’istruzione.</a:t>
            </a:r>
          </a:p>
          <a:p>
            <a:pPr marL="293688" indent="-285750" algn="just">
              <a:lnSpc>
                <a:spcPct val="130000"/>
              </a:lnSpc>
              <a:spcBef>
                <a:spcPts val="0"/>
              </a:spcBef>
              <a:buFont typeface="Courier New" panose="02070309020205020404" pitchFamily="49" charset="0"/>
              <a:buChar char="•"/>
            </a:pPr>
            <a:r>
              <a:rPr lang="it-IT" sz="2000" dirty="0">
                <a:latin typeface="+mn-lt"/>
                <a:cs typeface="Arial" panose="020B0604020202020204" pitchFamily="34" charset="0"/>
              </a:rPr>
              <a:t>In contesti con forti barriere economiche, sociali e legali al divorzio </a:t>
            </a:r>
            <a:r>
              <a:rPr lang="it-IT" sz="2000" dirty="0">
                <a:latin typeface="+mn-lt"/>
                <a:cs typeface="Arial" panose="020B0604020202020204" pitchFamily="34" charset="0"/>
                <a:sym typeface="Wingdings" panose="05000000000000000000" pitchFamily="2" charset="2"/>
              </a:rPr>
              <a:t> </a:t>
            </a:r>
            <a:r>
              <a:rPr lang="it-IT" sz="2000" dirty="0">
                <a:latin typeface="+mn-lt"/>
                <a:cs typeface="Arial" panose="020B0604020202020204" pitchFamily="34" charset="0"/>
              </a:rPr>
              <a:t>gradiente d’istruzione positivo.</a:t>
            </a:r>
          </a:p>
          <a:p>
            <a:pPr marL="293688" indent="-285750" algn="just">
              <a:lnSpc>
                <a:spcPct val="130000"/>
              </a:lnSpc>
              <a:spcBef>
                <a:spcPts val="0"/>
              </a:spcBef>
              <a:buFont typeface="Courier New" panose="02070309020205020404" pitchFamily="49" charset="0"/>
              <a:buChar char="•"/>
            </a:pPr>
            <a:r>
              <a:rPr lang="it-IT" sz="2000" dirty="0">
                <a:latin typeface="+mn-lt"/>
                <a:cs typeface="Arial" panose="020B0604020202020204" pitchFamily="34" charset="0"/>
              </a:rPr>
              <a:t>Quando le barriere si riducono e il divorzio diventa più diffuso </a:t>
            </a:r>
            <a:r>
              <a:rPr lang="it-IT" sz="2000" dirty="0">
                <a:latin typeface="+mn-lt"/>
                <a:cs typeface="Arial" panose="020B0604020202020204" pitchFamily="34" charset="0"/>
                <a:sym typeface="Wingdings" panose="05000000000000000000" pitchFamily="2" charset="2"/>
              </a:rPr>
              <a:t> </a:t>
            </a:r>
            <a:r>
              <a:rPr lang="it-IT" sz="2000" b="1" dirty="0">
                <a:latin typeface="+mn-lt"/>
                <a:cs typeface="Arial" panose="020B0604020202020204" pitchFamily="34" charset="0"/>
                <a:sym typeface="Wingdings" panose="05000000000000000000" pitchFamily="2" charset="2"/>
              </a:rPr>
              <a:t>inversione del gradiente</a:t>
            </a:r>
            <a:r>
              <a:rPr lang="it-IT" sz="2000" dirty="0">
                <a:latin typeface="+mn-lt"/>
                <a:cs typeface="Arial" panose="020B0604020202020204" pitchFamily="34" charset="0"/>
                <a:sym typeface="Wingdings" panose="05000000000000000000" pitchFamily="2" charset="2"/>
              </a:rPr>
              <a:t>.</a:t>
            </a:r>
          </a:p>
          <a:p>
            <a:pPr marL="0" algn="just">
              <a:lnSpc>
                <a:spcPct val="130000"/>
              </a:lnSpc>
              <a:spcBef>
                <a:spcPts val="0"/>
              </a:spcBef>
            </a:pPr>
            <a:endParaRPr lang="it-IT" sz="2000" dirty="0">
              <a:latin typeface="+mn-lt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0" algn="just">
              <a:lnSpc>
                <a:spcPct val="130000"/>
              </a:lnSpc>
              <a:spcBef>
                <a:spcPts val="0"/>
              </a:spcBef>
            </a:pPr>
            <a:r>
              <a:rPr lang="it-IT" sz="2000" dirty="0" err="1">
                <a:latin typeface="+mn-lt"/>
                <a:cs typeface="Arial" panose="020B0604020202020204" pitchFamily="34" charset="0"/>
              </a:rPr>
              <a:t>Härkönen</a:t>
            </a:r>
            <a:r>
              <a:rPr lang="it-IT" sz="2000" dirty="0">
                <a:latin typeface="+mn-lt"/>
                <a:cs typeface="Arial" panose="020B0604020202020204" pitchFamily="34" charset="0"/>
              </a:rPr>
              <a:t> e </a:t>
            </a:r>
            <a:r>
              <a:rPr lang="it-IT" sz="2000" dirty="0" err="1">
                <a:latin typeface="+mn-lt"/>
                <a:cs typeface="Arial" panose="020B0604020202020204" pitchFamily="34" charset="0"/>
              </a:rPr>
              <a:t>Dronkers</a:t>
            </a:r>
            <a:r>
              <a:rPr lang="it-IT" sz="2000" dirty="0">
                <a:latin typeface="+mn-lt"/>
                <a:cs typeface="Arial" panose="020B0604020202020204" pitchFamily="34" charset="0"/>
              </a:rPr>
              <a:t>, 2006: </a:t>
            </a:r>
          </a:p>
          <a:p>
            <a:pPr marL="293688" indent="-285750" algn="just">
              <a:lnSpc>
                <a:spcPct val="130000"/>
              </a:lnSpc>
              <a:spcBef>
                <a:spcPts val="0"/>
              </a:spcBef>
              <a:buFont typeface="Courier New" panose="02070309020205020404" pitchFamily="49" charset="0"/>
              <a:buChar char="•"/>
            </a:pPr>
            <a:r>
              <a:rPr lang="it-IT" sz="2000" dirty="0">
                <a:latin typeface="+mn-lt"/>
                <a:cs typeface="Arial" panose="020B0604020202020204" pitchFamily="34" charset="0"/>
              </a:rPr>
              <a:t>Conferma dell’ipotesi di </a:t>
            </a:r>
            <a:r>
              <a:rPr lang="it-IT" sz="2000" dirty="0" err="1">
                <a:latin typeface="+mn-lt"/>
                <a:cs typeface="Arial" panose="020B0604020202020204" pitchFamily="34" charset="0"/>
              </a:rPr>
              <a:t>Goode</a:t>
            </a:r>
            <a:r>
              <a:rPr lang="it-IT" sz="2000" dirty="0">
                <a:latin typeface="+mn-lt"/>
                <a:cs typeface="Arial" panose="020B0604020202020204" pitchFamily="34" charset="0"/>
              </a:rPr>
              <a:t>: negli anni ‘90, il gradiente d’istruzione in Italia è ancora positivo.</a:t>
            </a:r>
          </a:p>
          <a:p>
            <a:pPr marL="293688" indent="-285750" algn="just">
              <a:lnSpc>
                <a:spcPct val="130000"/>
              </a:lnSpc>
              <a:spcBef>
                <a:spcPts val="0"/>
              </a:spcBef>
              <a:buFont typeface="Courier New" panose="02070309020205020404" pitchFamily="49" charset="0"/>
              <a:buChar char="•"/>
            </a:pPr>
            <a:endParaRPr lang="it-IT" sz="2000" dirty="0">
              <a:latin typeface="+mn-lt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algn="just">
              <a:lnSpc>
                <a:spcPct val="130000"/>
              </a:lnSpc>
              <a:spcBef>
                <a:spcPts val="0"/>
              </a:spcBef>
            </a:pPr>
            <a:r>
              <a:rPr lang="it-IT" sz="2000" dirty="0">
                <a:latin typeface="+mn-lt"/>
                <a:cs typeface="Arial" panose="020B0604020202020204" pitchFamily="34" charset="0"/>
                <a:sym typeface="Wingdings" panose="05000000000000000000" pitchFamily="2" charset="2"/>
              </a:rPr>
              <a:t>Teoria degli Equilibri Multipli (</a:t>
            </a:r>
            <a:r>
              <a:rPr lang="it-IT" sz="2000" dirty="0" err="1">
                <a:latin typeface="+mn-lt"/>
                <a:cs typeface="Arial" panose="020B0604020202020204" pitchFamily="34" charset="0"/>
                <a:sym typeface="Wingdings" panose="05000000000000000000" pitchFamily="2" charset="2"/>
              </a:rPr>
              <a:t>Esping</a:t>
            </a:r>
            <a:r>
              <a:rPr lang="it-IT" sz="2000" dirty="0">
                <a:latin typeface="+mn-lt"/>
                <a:cs typeface="Arial" panose="020B0604020202020204" pitchFamily="34" charset="0"/>
                <a:sym typeface="Wingdings" panose="05000000000000000000" pitchFamily="2" charset="2"/>
              </a:rPr>
              <a:t>-Andersen e </a:t>
            </a:r>
            <a:r>
              <a:rPr lang="it-IT" sz="2000" dirty="0" err="1">
                <a:latin typeface="+mn-lt"/>
                <a:cs typeface="Arial" panose="020B0604020202020204" pitchFamily="34" charset="0"/>
                <a:sym typeface="Wingdings" panose="05000000000000000000" pitchFamily="2" charset="2"/>
              </a:rPr>
              <a:t>Billari</a:t>
            </a:r>
            <a:r>
              <a:rPr lang="it-IT" sz="2000" dirty="0">
                <a:latin typeface="+mn-lt"/>
                <a:cs typeface="Arial" panose="020B0604020202020204" pitchFamily="34" charset="0"/>
                <a:sym typeface="Wingdings" panose="05000000000000000000" pitchFamily="2" charset="2"/>
              </a:rPr>
              <a:t>, 2015):</a:t>
            </a:r>
          </a:p>
          <a:p>
            <a:pPr marL="293688" indent="-285750" algn="just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it-IT" sz="2000" dirty="0">
                <a:latin typeface="+mn-lt"/>
                <a:cs typeface="Arial" panose="020B0604020202020204" pitchFamily="34" charset="0"/>
                <a:sym typeface="Wingdings" panose="05000000000000000000" pitchFamily="2" charset="2"/>
              </a:rPr>
              <a:t>Equilibrio tradizionale  Equilibrio instabile  Equilibrio fondato sulla parità di genere.</a:t>
            </a:r>
          </a:p>
        </p:txBody>
      </p:sp>
      <p:sp>
        <p:nvSpPr>
          <p:cNvPr id="4" name="Titolo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>
                <a:solidFill>
                  <a:prstClr val="black"/>
                </a:solidFill>
              </a:rPr>
              <a:t>Letteratura rilevante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2388199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testo 2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marL="0" algn="just">
              <a:lnSpc>
                <a:spcPct val="100000"/>
              </a:lnSpc>
              <a:spcBef>
                <a:spcPts val="0"/>
              </a:spcBef>
            </a:pPr>
            <a:r>
              <a:rPr lang="it-IT" sz="2400" dirty="0">
                <a:latin typeface="+mn-lt"/>
              </a:rPr>
              <a:t>Obiettivo principale: analizzare l’evoluzione del legame tra istruzione e rottura dalla prima unione in Italia.</a:t>
            </a:r>
          </a:p>
          <a:p>
            <a:pPr marL="0" algn="just">
              <a:lnSpc>
                <a:spcPct val="100000"/>
              </a:lnSpc>
              <a:spcBef>
                <a:spcPts val="0"/>
              </a:spcBef>
            </a:pPr>
            <a:endParaRPr lang="it-IT" sz="2400" dirty="0">
              <a:latin typeface="+mn-lt"/>
            </a:endParaRPr>
          </a:p>
          <a:p>
            <a:pPr marL="514350" indent="-514350" algn="just">
              <a:lnSpc>
                <a:spcPct val="100000"/>
              </a:lnSpc>
              <a:spcBef>
                <a:spcPts val="0"/>
              </a:spcBef>
              <a:buFont typeface="+mj-lt"/>
              <a:buAutoNum type="arabicParenR"/>
            </a:pPr>
            <a:r>
              <a:rPr lang="it-IT" sz="2400" dirty="0">
                <a:latin typeface="+mn-lt"/>
              </a:rPr>
              <a:t>Il gradiente d’istruzione alla separazione dalla prima unione è rimasto stabile nel tempo o ha subito un’inversione nelle coorti più giovani?</a:t>
            </a:r>
          </a:p>
          <a:p>
            <a:pPr marL="514350" indent="-514350" algn="just">
              <a:lnSpc>
                <a:spcPct val="100000"/>
              </a:lnSpc>
              <a:spcBef>
                <a:spcPts val="0"/>
              </a:spcBef>
              <a:buFont typeface="+mj-lt"/>
              <a:buAutoNum type="arabicParenR"/>
            </a:pPr>
            <a:endParaRPr lang="it-IT" sz="2400" dirty="0">
              <a:latin typeface="+mn-lt"/>
            </a:endParaRPr>
          </a:p>
          <a:p>
            <a:pPr marL="514350" indent="-514350" algn="just">
              <a:lnSpc>
                <a:spcPct val="100000"/>
              </a:lnSpc>
              <a:spcBef>
                <a:spcPts val="0"/>
              </a:spcBef>
              <a:buFont typeface="+mj-lt"/>
              <a:buAutoNum type="arabicParenR"/>
            </a:pPr>
            <a:r>
              <a:rPr lang="it-IT" sz="2400" dirty="0">
                <a:latin typeface="+mn-lt"/>
              </a:rPr>
              <a:t>Esistono differenze di genere nella relazione tra istruzione e stabilità della prima unione?</a:t>
            </a:r>
          </a:p>
          <a:p>
            <a:pPr marL="514350" indent="-514350" algn="just">
              <a:lnSpc>
                <a:spcPct val="100000"/>
              </a:lnSpc>
              <a:spcBef>
                <a:spcPts val="0"/>
              </a:spcBef>
              <a:buFont typeface="+mj-lt"/>
              <a:buAutoNum type="arabicParenR"/>
            </a:pPr>
            <a:endParaRPr lang="it-IT" sz="2400" dirty="0">
              <a:latin typeface="+mn-lt"/>
            </a:endParaRPr>
          </a:p>
          <a:p>
            <a:pPr marL="514350" indent="-514350" algn="just">
              <a:lnSpc>
                <a:spcPct val="100000"/>
              </a:lnSpc>
              <a:spcBef>
                <a:spcPts val="0"/>
              </a:spcBef>
              <a:buFont typeface="+mj-lt"/>
              <a:buAutoNum type="arabicParenR"/>
            </a:pPr>
            <a:r>
              <a:rPr lang="it-IT" sz="2400" dirty="0">
                <a:latin typeface="+mn-lt"/>
              </a:rPr>
              <a:t>La tipologia della prima unione (convivenza vs matrimonio) condiziona il legame tra istruzione e separazione?</a:t>
            </a:r>
          </a:p>
          <a:p>
            <a:endParaRPr lang="it-IT" dirty="0"/>
          </a:p>
        </p:txBody>
      </p:sp>
      <p:sp>
        <p:nvSpPr>
          <p:cNvPr id="4" name="Titolo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>
                <a:solidFill>
                  <a:prstClr val="black"/>
                </a:solidFill>
              </a:rPr>
              <a:t>Domande di ricerca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1664027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testo 2"/>
          <p:cNvSpPr>
            <a:spLocks noGrp="1"/>
          </p:cNvSpPr>
          <p:nvPr>
            <p:ph type="body" sz="quarter" idx="13"/>
          </p:nvPr>
        </p:nvSpPr>
        <p:spPr/>
        <p:txBody>
          <a:bodyPr>
            <a:noAutofit/>
          </a:bodyPr>
          <a:lstStyle/>
          <a:p>
            <a:pPr marL="0" lvl="0" algn="just">
              <a:lnSpc>
                <a:spcPct val="120000"/>
              </a:lnSpc>
              <a:spcBef>
                <a:spcPts val="0"/>
              </a:spcBef>
            </a:pPr>
            <a:r>
              <a:rPr lang="it-IT" u="sng" dirty="0">
                <a:solidFill>
                  <a:prstClr val="black"/>
                </a:solidFill>
                <a:latin typeface="+mn-lt"/>
              </a:rPr>
              <a:t>Campione analitico</a:t>
            </a:r>
            <a:r>
              <a:rPr lang="it-IT" dirty="0">
                <a:solidFill>
                  <a:prstClr val="black"/>
                </a:solidFill>
                <a:latin typeface="+mn-lt"/>
              </a:rPr>
              <a:t>: 17786 osservazioni (96,74% della popolazione a rischio).</a:t>
            </a:r>
          </a:p>
          <a:p>
            <a:pPr marL="0" lvl="0" algn="just">
              <a:lnSpc>
                <a:spcPct val="120000"/>
              </a:lnSpc>
              <a:spcBef>
                <a:spcPts val="0"/>
              </a:spcBef>
            </a:pPr>
            <a:endParaRPr lang="it-IT" dirty="0">
              <a:solidFill>
                <a:prstClr val="black"/>
              </a:solidFill>
              <a:latin typeface="+mn-lt"/>
            </a:endParaRPr>
          </a:p>
          <a:p>
            <a:pPr marL="0" algn="just">
              <a:lnSpc>
                <a:spcPct val="120000"/>
              </a:lnSpc>
              <a:spcBef>
                <a:spcPts val="0"/>
              </a:spcBef>
            </a:pPr>
            <a:r>
              <a:rPr lang="it-IT" dirty="0">
                <a:latin typeface="+mn-lt"/>
              </a:rPr>
              <a:t>La </a:t>
            </a:r>
            <a:r>
              <a:rPr lang="it-IT" b="1" dirty="0">
                <a:latin typeface="+mn-lt"/>
              </a:rPr>
              <a:t>variabile evento </a:t>
            </a:r>
            <a:r>
              <a:rPr lang="it-IT" dirty="0">
                <a:latin typeface="+mn-lt"/>
              </a:rPr>
              <a:t>è </a:t>
            </a:r>
            <a:r>
              <a:rPr lang="it-IT" i="1" dirty="0">
                <a:latin typeface="+mn-lt"/>
              </a:rPr>
              <a:t>SEP </a:t>
            </a:r>
            <a:r>
              <a:rPr lang="it-IT" dirty="0">
                <a:latin typeface="+mn-lt"/>
                <a:sym typeface="Wingdings" panose="05000000000000000000" pitchFamily="2" charset="2"/>
              </a:rPr>
              <a:t> separazione </a:t>
            </a:r>
            <a:r>
              <a:rPr lang="it-IT" dirty="0">
                <a:latin typeface="+mn-lt"/>
              </a:rPr>
              <a:t>dalla prima unione (1 = separazione, 0 = unione ancora in corso o censurata).</a:t>
            </a:r>
          </a:p>
          <a:p>
            <a:pPr marL="465138" indent="-457200" algn="just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it-IT" dirty="0">
                <a:latin typeface="+mn-lt"/>
              </a:rPr>
              <a:t>Le convivenze sono censurate se ancora in corso o concluse con un matrimonio.</a:t>
            </a:r>
          </a:p>
          <a:p>
            <a:pPr marL="465138" indent="-457200" algn="just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it-IT" dirty="0">
                <a:latin typeface="+mn-lt"/>
              </a:rPr>
              <a:t>I matrimoni sono censurati se ancora in corso o conclusi per vedovanza.</a:t>
            </a:r>
          </a:p>
          <a:p>
            <a:pPr marL="0" algn="just">
              <a:lnSpc>
                <a:spcPct val="120000"/>
              </a:lnSpc>
              <a:spcBef>
                <a:spcPts val="0"/>
              </a:spcBef>
            </a:pPr>
            <a:endParaRPr lang="it-IT" dirty="0">
              <a:latin typeface="+mn-lt"/>
            </a:endParaRPr>
          </a:p>
          <a:p>
            <a:pPr marL="0" algn="just">
              <a:lnSpc>
                <a:spcPct val="120000"/>
              </a:lnSpc>
              <a:spcBef>
                <a:spcPts val="0"/>
              </a:spcBef>
            </a:pPr>
            <a:r>
              <a:rPr lang="it-IT" dirty="0">
                <a:latin typeface="+mn-lt"/>
              </a:rPr>
              <a:t>La </a:t>
            </a:r>
            <a:r>
              <a:rPr lang="it-IT" b="1" dirty="0">
                <a:latin typeface="+mn-lt"/>
              </a:rPr>
              <a:t>variabile di durata</a:t>
            </a:r>
            <a:r>
              <a:rPr lang="it-IT" dirty="0">
                <a:latin typeface="+mn-lt"/>
              </a:rPr>
              <a:t> è </a:t>
            </a:r>
            <a:r>
              <a:rPr lang="it-IT" i="1" dirty="0">
                <a:latin typeface="+mn-lt"/>
              </a:rPr>
              <a:t>DUR_UNIONE </a:t>
            </a:r>
            <a:r>
              <a:rPr lang="it-IT" dirty="0">
                <a:latin typeface="+mn-lt"/>
                <a:sym typeface="Wingdings" panose="05000000000000000000" pitchFamily="2" charset="2"/>
              </a:rPr>
              <a:t></a:t>
            </a:r>
            <a:r>
              <a:rPr lang="it-IT" dirty="0">
                <a:latin typeface="+mn-lt"/>
              </a:rPr>
              <a:t> durata (in anni) della prima unione:</a:t>
            </a:r>
          </a:p>
          <a:p>
            <a:pPr marL="514350" indent="-514350" algn="just">
              <a:lnSpc>
                <a:spcPct val="120000"/>
              </a:lnSpc>
              <a:spcBef>
                <a:spcPts val="0"/>
              </a:spcBef>
              <a:buFont typeface="+mj-lt"/>
              <a:buAutoNum type="alphaUcPeriod"/>
            </a:pPr>
            <a:r>
              <a:rPr lang="it-IT" dirty="0">
                <a:latin typeface="+mn-lt"/>
              </a:rPr>
              <a:t>Convivenza in corso: 2016 − anno d’inizio convivenza</a:t>
            </a:r>
          </a:p>
          <a:p>
            <a:pPr marL="514350" indent="-514350" algn="just">
              <a:lnSpc>
                <a:spcPct val="120000"/>
              </a:lnSpc>
              <a:spcBef>
                <a:spcPts val="0"/>
              </a:spcBef>
              <a:buFont typeface="+mj-lt"/>
              <a:buAutoNum type="alphaUcPeriod"/>
            </a:pPr>
            <a:r>
              <a:rPr lang="it-IT" dirty="0">
                <a:latin typeface="+mn-lt"/>
              </a:rPr>
              <a:t>Separazione da convivenza: anno fine convivenza − anno inizio convivenza</a:t>
            </a:r>
          </a:p>
          <a:p>
            <a:pPr marL="514350" indent="-514350" algn="just">
              <a:lnSpc>
                <a:spcPct val="120000"/>
              </a:lnSpc>
              <a:spcBef>
                <a:spcPts val="0"/>
              </a:spcBef>
              <a:buFont typeface="+mj-lt"/>
              <a:buAutoNum type="alphaUcPeriod"/>
            </a:pPr>
            <a:r>
              <a:rPr lang="it-IT" dirty="0">
                <a:latin typeface="+mn-lt"/>
              </a:rPr>
              <a:t>Matrimonio non interrotto: 2016 − anno del matrimonio</a:t>
            </a:r>
          </a:p>
          <a:p>
            <a:pPr marL="514350" indent="-514350" algn="just">
              <a:lnSpc>
                <a:spcPct val="120000"/>
              </a:lnSpc>
              <a:spcBef>
                <a:spcPts val="0"/>
              </a:spcBef>
              <a:buFont typeface="+mj-lt"/>
              <a:buAutoNum type="alphaUcPeriod"/>
            </a:pPr>
            <a:r>
              <a:rPr lang="it-IT" dirty="0">
                <a:latin typeface="+mn-lt"/>
              </a:rPr>
              <a:t>Vedovanza: anno della vedovanza − anno del matrimonio</a:t>
            </a:r>
          </a:p>
          <a:p>
            <a:pPr marL="514350" indent="-514350" algn="just">
              <a:lnSpc>
                <a:spcPct val="120000"/>
              </a:lnSpc>
              <a:spcBef>
                <a:spcPts val="0"/>
              </a:spcBef>
              <a:buFont typeface="+mj-lt"/>
              <a:buAutoNum type="alphaUcPeriod"/>
            </a:pPr>
            <a:r>
              <a:rPr lang="it-IT" dirty="0">
                <a:latin typeface="+mn-lt"/>
              </a:rPr>
              <a:t>Separazione da matrimonio: anno della separazione − anno del matrimonio</a:t>
            </a:r>
          </a:p>
        </p:txBody>
      </p:sp>
      <p:sp>
        <p:nvSpPr>
          <p:cNvPr id="4" name="Titolo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>
                <a:solidFill>
                  <a:prstClr val="black"/>
                </a:solidFill>
              </a:rPr>
              <a:t>Strategia empirica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7075272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olo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Strategia empirica</a:t>
            </a:r>
          </a:p>
        </p:txBody>
      </p:sp>
      <p:sp>
        <p:nvSpPr>
          <p:cNvPr id="6" name="CasellaDiTesto 5"/>
          <p:cNvSpPr txBox="1"/>
          <p:nvPr/>
        </p:nvSpPr>
        <p:spPr>
          <a:xfrm>
            <a:off x="8172273" y="2346107"/>
            <a:ext cx="2012660" cy="338554"/>
          </a:xfrm>
          <a:prstGeom prst="rect">
            <a:avLst/>
          </a:prstGeom>
          <a:ln/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it-IT" sz="1600" dirty="0"/>
              <a:t>Istruzione dei genitori</a:t>
            </a:r>
          </a:p>
        </p:txBody>
      </p:sp>
      <p:sp>
        <p:nvSpPr>
          <p:cNvPr id="7" name="CasellaDiTesto 6"/>
          <p:cNvSpPr txBox="1"/>
          <p:nvPr/>
        </p:nvSpPr>
        <p:spPr>
          <a:xfrm>
            <a:off x="775869" y="2346107"/>
            <a:ext cx="1928070" cy="338554"/>
          </a:xfrm>
          <a:prstGeom prst="rect">
            <a:avLst/>
          </a:prstGeom>
          <a:ln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it-IT" sz="1600" dirty="0"/>
              <a:t>Coorte dell’unione</a:t>
            </a:r>
          </a:p>
        </p:txBody>
      </p:sp>
      <p:sp>
        <p:nvSpPr>
          <p:cNvPr id="8" name="CasellaDiTesto 7"/>
          <p:cNvSpPr txBox="1"/>
          <p:nvPr/>
        </p:nvSpPr>
        <p:spPr>
          <a:xfrm>
            <a:off x="2838698" y="2346107"/>
            <a:ext cx="810935" cy="338554"/>
          </a:xfrm>
          <a:prstGeom prst="rect">
            <a:avLst/>
          </a:prstGeom>
          <a:ln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it-IT" sz="1600" dirty="0"/>
              <a:t>Sesso</a:t>
            </a:r>
          </a:p>
        </p:txBody>
      </p:sp>
      <p:sp>
        <p:nvSpPr>
          <p:cNvPr id="9" name="CasellaDiTesto 8"/>
          <p:cNvSpPr txBox="1"/>
          <p:nvPr/>
        </p:nvSpPr>
        <p:spPr>
          <a:xfrm>
            <a:off x="3784393" y="2346107"/>
            <a:ext cx="1934352" cy="338554"/>
          </a:xfrm>
          <a:prstGeom prst="rect">
            <a:avLst/>
          </a:prstGeom>
          <a:ln/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it-IT" sz="1600" dirty="0"/>
              <a:t>Tipologia dell’unione</a:t>
            </a:r>
          </a:p>
        </p:txBody>
      </p:sp>
      <p:sp>
        <p:nvSpPr>
          <p:cNvPr id="10" name="CasellaDiTesto 9"/>
          <p:cNvSpPr txBox="1"/>
          <p:nvPr/>
        </p:nvSpPr>
        <p:spPr>
          <a:xfrm>
            <a:off x="5865307" y="2346107"/>
            <a:ext cx="2136799" cy="338554"/>
          </a:xfrm>
          <a:prstGeom prst="rect">
            <a:avLst/>
          </a:prstGeom>
          <a:ln/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it-IT" sz="1600" dirty="0"/>
              <a:t>Ripartizione territoriale</a:t>
            </a:r>
          </a:p>
        </p:txBody>
      </p:sp>
      <p:sp>
        <p:nvSpPr>
          <p:cNvPr id="11" name="CasellaDiTesto 10"/>
          <p:cNvSpPr txBox="1"/>
          <p:nvPr/>
        </p:nvSpPr>
        <p:spPr>
          <a:xfrm>
            <a:off x="775869" y="4844579"/>
            <a:ext cx="2318158" cy="338554"/>
          </a:xfrm>
          <a:prstGeom prst="rect">
            <a:avLst/>
          </a:prstGeom>
          <a:solidFill>
            <a:srgbClr val="7030A0"/>
          </a:solidFill>
          <a:ln>
            <a:solidFill>
              <a:srgbClr val="7030A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it-IT" sz="1600" dirty="0">
                <a:solidFill>
                  <a:schemeClr val="bg1"/>
                </a:solidFill>
              </a:rPr>
              <a:t>Istruzione individuale</a:t>
            </a:r>
          </a:p>
        </p:txBody>
      </p:sp>
      <p:sp>
        <p:nvSpPr>
          <p:cNvPr id="13" name="CasellaDiTesto 12"/>
          <p:cNvSpPr txBox="1"/>
          <p:nvPr/>
        </p:nvSpPr>
        <p:spPr>
          <a:xfrm>
            <a:off x="7866775" y="4844579"/>
            <a:ext cx="2318158" cy="338554"/>
          </a:xfrm>
          <a:prstGeom prst="rect">
            <a:avLst/>
          </a:prstGeom>
          <a:solidFill>
            <a:schemeClr val="accent3"/>
          </a:solidFill>
          <a:ln>
            <a:solidFill>
              <a:schemeClr val="accent3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it-IT" sz="1600" dirty="0">
                <a:solidFill>
                  <a:schemeClr val="bg1"/>
                </a:solidFill>
              </a:rPr>
              <a:t>Rottura dell’unione</a:t>
            </a:r>
          </a:p>
        </p:txBody>
      </p:sp>
      <p:sp>
        <p:nvSpPr>
          <p:cNvPr id="14" name="CasellaDiTesto 13"/>
          <p:cNvSpPr txBox="1"/>
          <p:nvPr/>
        </p:nvSpPr>
        <p:spPr>
          <a:xfrm>
            <a:off x="4321322" y="4848710"/>
            <a:ext cx="2318158" cy="338554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accent4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it-IT" sz="1600" dirty="0">
                <a:solidFill>
                  <a:schemeClr val="bg1"/>
                </a:solidFill>
              </a:rPr>
              <a:t>Entrata nel mdl</a:t>
            </a:r>
          </a:p>
        </p:txBody>
      </p:sp>
      <p:cxnSp>
        <p:nvCxnSpPr>
          <p:cNvPr id="36" name="Connettore 2 35"/>
          <p:cNvCxnSpPr>
            <a:stCxn id="7" idx="2"/>
            <a:endCxn id="11" idx="0"/>
          </p:cNvCxnSpPr>
          <p:nvPr/>
        </p:nvCxnSpPr>
        <p:spPr>
          <a:xfrm>
            <a:off x="1739904" y="2684661"/>
            <a:ext cx="195044" cy="215991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Connettore 2 37"/>
          <p:cNvCxnSpPr>
            <a:stCxn id="8" idx="2"/>
            <a:endCxn id="11" idx="0"/>
          </p:cNvCxnSpPr>
          <p:nvPr/>
        </p:nvCxnSpPr>
        <p:spPr>
          <a:xfrm flipH="1">
            <a:off x="1934948" y="2684661"/>
            <a:ext cx="1309218" cy="215991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40" name="Connettore 2 39"/>
          <p:cNvCxnSpPr>
            <a:stCxn id="9" idx="2"/>
            <a:endCxn id="11" idx="0"/>
          </p:cNvCxnSpPr>
          <p:nvPr/>
        </p:nvCxnSpPr>
        <p:spPr>
          <a:xfrm flipH="1">
            <a:off x="1934948" y="2684661"/>
            <a:ext cx="2816621" cy="215991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42" name="Connettore 2 41"/>
          <p:cNvCxnSpPr>
            <a:stCxn id="10" idx="2"/>
            <a:endCxn id="11" idx="0"/>
          </p:cNvCxnSpPr>
          <p:nvPr/>
        </p:nvCxnSpPr>
        <p:spPr>
          <a:xfrm flipH="1">
            <a:off x="1934948" y="2684661"/>
            <a:ext cx="4998759" cy="215991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44" name="Connettore 2 43"/>
          <p:cNvCxnSpPr>
            <a:stCxn id="6" idx="2"/>
            <a:endCxn id="11" idx="0"/>
          </p:cNvCxnSpPr>
          <p:nvPr/>
        </p:nvCxnSpPr>
        <p:spPr>
          <a:xfrm flipH="1">
            <a:off x="1934948" y="2684661"/>
            <a:ext cx="7243655" cy="215991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46" name="Connettore 2 45"/>
          <p:cNvCxnSpPr>
            <a:stCxn id="7" idx="2"/>
            <a:endCxn id="14" idx="0"/>
          </p:cNvCxnSpPr>
          <p:nvPr/>
        </p:nvCxnSpPr>
        <p:spPr>
          <a:xfrm>
            <a:off x="1739904" y="2684661"/>
            <a:ext cx="3740497" cy="216404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Connettore 2 47"/>
          <p:cNvCxnSpPr>
            <a:stCxn id="8" idx="2"/>
            <a:endCxn id="14" idx="0"/>
          </p:cNvCxnSpPr>
          <p:nvPr/>
        </p:nvCxnSpPr>
        <p:spPr>
          <a:xfrm>
            <a:off x="3244166" y="2684661"/>
            <a:ext cx="2236235" cy="216404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50" name="Connettore 2 49"/>
          <p:cNvCxnSpPr>
            <a:stCxn id="9" idx="2"/>
            <a:endCxn id="14" idx="0"/>
          </p:cNvCxnSpPr>
          <p:nvPr/>
        </p:nvCxnSpPr>
        <p:spPr>
          <a:xfrm>
            <a:off x="4751569" y="2684661"/>
            <a:ext cx="728832" cy="216404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52" name="Connettore 2 51"/>
          <p:cNvCxnSpPr>
            <a:stCxn id="10" idx="2"/>
            <a:endCxn id="14" idx="0"/>
          </p:cNvCxnSpPr>
          <p:nvPr/>
        </p:nvCxnSpPr>
        <p:spPr>
          <a:xfrm flipH="1">
            <a:off x="5480401" y="2684661"/>
            <a:ext cx="1453306" cy="216404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54" name="Connettore 2 53"/>
          <p:cNvCxnSpPr>
            <a:stCxn id="6" idx="2"/>
            <a:endCxn id="14" idx="0"/>
          </p:cNvCxnSpPr>
          <p:nvPr/>
        </p:nvCxnSpPr>
        <p:spPr>
          <a:xfrm flipH="1">
            <a:off x="5480401" y="2684661"/>
            <a:ext cx="3698202" cy="216404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58" name="Connettore 2 57"/>
          <p:cNvCxnSpPr>
            <a:stCxn id="8" idx="2"/>
            <a:endCxn id="13" idx="0"/>
          </p:cNvCxnSpPr>
          <p:nvPr/>
        </p:nvCxnSpPr>
        <p:spPr>
          <a:xfrm>
            <a:off x="3244166" y="2684661"/>
            <a:ext cx="5781688" cy="215991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0" name="Connettore 2 59"/>
          <p:cNvCxnSpPr>
            <a:stCxn id="9" idx="2"/>
            <a:endCxn id="13" idx="0"/>
          </p:cNvCxnSpPr>
          <p:nvPr/>
        </p:nvCxnSpPr>
        <p:spPr>
          <a:xfrm>
            <a:off x="4751569" y="2684661"/>
            <a:ext cx="4274285" cy="215991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62" name="Connettore 2 61"/>
          <p:cNvCxnSpPr>
            <a:stCxn id="10" idx="2"/>
            <a:endCxn id="13" idx="0"/>
          </p:cNvCxnSpPr>
          <p:nvPr/>
        </p:nvCxnSpPr>
        <p:spPr>
          <a:xfrm>
            <a:off x="6933707" y="2684661"/>
            <a:ext cx="2092147" cy="215991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64" name="Connettore 2 63"/>
          <p:cNvCxnSpPr>
            <a:stCxn id="6" idx="2"/>
            <a:endCxn id="13" idx="0"/>
          </p:cNvCxnSpPr>
          <p:nvPr/>
        </p:nvCxnSpPr>
        <p:spPr>
          <a:xfrm flipH="1">
            <a:off x="9025854" y="2684661"/>
            <a:ext cx="152749" cy="215991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66" name="Connettore 2 65"/>
          <p:cNvCxnSpPr>
            <a:stCxn id="7" idx="2"/>
            <a:endCxn id="13" idx="0"/>
          </p:cNvCxnSpPr>
          <p:nvPr/>
        </p:nvCxnSpPr>
        <p:spPr>
          <a:xfrm>
            <a:off x="1739904" y="2684661"/>
            <a:ext cx="7285950" cy="215991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Connettore 2 67"/>
          <p:cNvCxnSpPr>
            <a:stCxn id="11" idx="3"/>
            <a:endCxn id="14" idx="1"/>
          </p:cNvCxnSpPr>
          <p:nvPr/>
        </p:nvCxnSpPr>
        <p:spPr>
          <a:xfrm>
            <a:off x="3094027" y="5013856"/>
            <a:ext cx="1227295" cy="4131"/>
          </a:xfrm>
          <a:prstGeom prst="straightConnector1">
            <a:avLst/>
          </a:prstGeom>
          <a:ln>
            <a:solidFill>
              <a:srgbClr val="7030A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0" name="Connettore 2 69"/>
          <p:cNvCxnSpPr>
            <a:stCxn id="14" idx="3"/>
            <a:endCxn id="13" idx="1"/>
          </p:cNvCxnSpPr>
          <p:nvPr/>
        </p:nvCxnSpPr>
        <p:spPr>
          <a:xfrm flipV="1">
            <a:off x="6639480" y="5013856"/>
            <a:ext cx="1227295" cy="4131"/>
          </a:xfrm>
          <a:prstGeom prst="straightConnector1">
            <a:avLst/>
          </a:prstGeom>
          <a:ln>
            <a:solidFill>
              <a:schemeClr val="accent2">
                <a:lumMod val="50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560840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olo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just"/>
            <a:r>
              <a:rPr lang="it-IT" dirty="0"/>
              <a:t>Modello selezionato</a:t>
            </a:r>
          </a:p>
        </p:txBody>
      </p:sp>
      <p:pic>
        <p:nvPicPr>
          <p:cNvPr id="5" name="Immagin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89984" y="1963646"/>
            <a:ext cx="6600000" cy="3960000"/>
          </a:xfrm>
          <a:prstGeom prst="rect">
            <a:avLst/>
          </a:prstGeom>
        </p:spPr>
      </p:pic>
      <p:sp>
        <p:nvSpPr>
          <p:cNvPr id="7" name="CasellaDiTesto 6"/>
          <p:cNvSpPr txBox="1"/>
          <p:nvPr/>
        </p:nvSpPr>
        <p:spPr>
          <a:xfrm>
            <a:off x="1019150" y="3356038"/>
            <a:ext cx="330526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b="1" dirty="0"/>
              <a:t>Modello </a:t>
            </a:r>
            <a:r>
              <a:rPr lang="it-IT" b="1" dirty="0" err="1"/>
              <a:t>logit</a:t>
            </a:r>
            <a:r>
              <a:rPr lang="it-IT" b="1" dirty="0"/>
              <a:t> con specificazione </a:t>
            </a:r>
            <a:r>
              <a:rPr lang="it-IT" b="1" dirty="0" err="1"/>
              <a:t>piecewise</a:t>
            </a:r>
            <a:r>
              <a:rPr lang="it-IT" b="1" dirty="0"/>
              <a:t> della baseline</a:t>
            </a:r>
          </a:p>
        </p:txBody>
      </p:sp>
    </p:spTree>
    <p:extLst>
      <p:ext uri="{BB962C8B-B14F-4D97-AF65-F5344CB8AC3E}">
        <p14:creationId xmlns:p14="http://schemas.microsoft.com/office/powerpoint/2010/main" val="3276348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olo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Assunzione di proporzionalità</a:t>
            </a:r>
          </a:p>
        </p:txBody>
      </p:sp>
      <p:pic>
        <p:nvPicPr>
          <p:cNvPr id="5" name="Immagin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72940" y="2110694"/>
            <a:ext cx="6600000" cy="39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09200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testo 2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2500" lnSpcReduction="10000"/>
          </a:bodyPr>
          <a:lstStyle/>
          <a:p>
            <a:pPr algn="just"/>
            <a:endParaRPr lang="it-IT" sz="2000" dirty="0">
              <a:latin typeface="+mn-lt"/>
            </a:endParaRPr>
          </a:p>
          <a:p>
            <a:pPr algn="just"/>
            <a:endParaRPr lang="it-IT" sz="2000" dirty="0">
              <a:latin typeface="+mn-lt"/>
            </a:endParaRPr>
          </a:p>
          <a:p>
            <a:pPr algn="just"/>
            <a:endParaRPr lang="it-IT" sz="2000" dirty="0">
              <a:latin typeface="+mn-lt"/>
            </a:endParaRPr>
          </a:p>
          <a:p>
            <a:pPr algn="just"/>
            <a:endParaRPr lang="it-IT" sz="2000" dirty="0">
              <a:latin typeface="+mn-lt"/>
            </a:endParaRPr>
          </a:p>
          <a:p>
            <a:pPr algn="just"/>
            <a:endParaRPr lang="it-IT" sz="2000" dirty="0">
              <a:latin typeface="+mn-lt"/>
            </a:endParaRPr>
          </a:p>
          <a:p>
            <a:pPr marL="293688" indent="-285750" algn="just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it-IT" b="1" dirty="0">
                <a:latin typeface="+mn-lt"/>
              </a:rPr>
              <a:t>Sesso</a:t>
            </a:r>
            <a:r>
              <a:rPr lang="it-IT" dirty="0">
                <a:latin typeface="+mn-lt"/>
              </a:rPr>
              <a:t>: non significativo</a:t>
            </a:r>
          </a:p>
          <a:p>
            <a:pPr marL="293688" indent="-285750" algn="just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it-IT" b="1" dirty="0">
                <a:latin typeface="+mn-lt"/>
              </a:rPr>
              <a:t>Tipologia dell’unione</a:t>
            </a:r>
            <a:r>
              <a:rPr lang="it-IT" dirty="0">
                <a:latin typeface="+mn-lt"/>
              </a:rPr>
              <a:t>: rischio significativamente maggiore per le convivenze (OR = 11,14; p-</a:t>
            </a:r>
            <a:r>
              <a:rPr lang="it-IT" dirty="0" err="1">
                <a:latin typeface="+mn-lt"/>
              </a:rPr>
              <a:t>value</a:t>
            </a:r>
            <a:r>
              <a:rPr lang="it-IT" dirty="0">
                <a:latin typeface="+mn-lt"/>
              </a:rPr>
              <a:t> &lt; 0,001)</a:t>
            </a:r>
          </a:p>
          <a:p>
            <a:pPr marL="293688" indent="-285750" algn="just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it-IT" b="1" dirty="0">
                <a:latin typeface="+mn-lt"/>
              </a:rPr>
              <a:t>Ripartizione territoriale</a:t>
            </a:r>
            <a:r>
              <a:rPr lang="it-IT" dirty="0">
                <a:latin typeface="+mn-lt"/>
              </a:rPr>
              <a:t>: rischio significativamente inferiore nelle regioni meridionali (OR = 0,79; p-</a:t>
            </a:r>
            <a:r>
              <a:rPr lang="it-IT" dirty="0" err="1">
                <a:latin typeface="+mn-lt"/>
              </a:rPr>
              <a:t>value</a:t>
            </a:r>
            <a:r>
              <a:rPr lang="it-IT" dirty="0">
                <a:latin typeface="+mn-lt"/>
              </a:rPr>
              <a:t> &lt; 0,001)</a:t>
            </a:r>
          </a:p>
          <a:p>
            <a:pPr marL="293688" indent="-285750" algn="just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it-IT" b="1" dirty="0">
                <a:latin typeface="+mn-lt"/>
              </a:rPr>
              <a:t>Entrata nel mdl</a:t>
            </a:r>
            <a:r>
              <a:rPr lang="it-IT" dirty="0">
                <a:latin typeface="+mn-lt"/>
              </a:rPr>
              <a:t>: rischio marginalmente inferiore per individui che non hanno mai lavorato (OR = 0,82; p-</a:t>
            </a:r>
            <a:r>
              <a:rPr lang="it-IT" dirty="0" err="1">
                <a:latin typeface="+mn-lt"/>
              </a:rPr>
              <a:t>value</a:t>
            </a:r>
            <a:r>
              <a:rPr lang="it-IT" dirty="0">
                <a:latin typeface="+mn-lt"/>
              </a:rPr>
              <a:t> = 0,005)</a:t>
            </a:r>
          </a:p>
          <a:p>
            <a:pPr marL="293688" indent="-285750" algn="just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it-IT" b="1" dirty="0">
                <a:latin typeface="+mn-lt"/>
              </a:rPr>
              <a:t>Istruzione dei genitori</a:t>
            </a:r>
            <a:r>
              <a:rPr lang="it-IT" dirty="0">
                <a:latin typeface="+mn-lt"/>
              </a:rPr>
              <a:t>: gradiente significativamente positivo</a:t>
            </a:r>
          </a:p>
          <a:p>
            <a:pPr lvl="1" algn="just">
              <a:lnSpc>
                <a:spcPct val="100000"/>
              </a:lnSpc>
              <a:spcBef>
                <a:spcPts val="0"/>
              </a:spcBef>
            </a:pPr>
            <a:r>
              <a:rPr lang="it-IT" dirty="0">
                <a:latin typeface="+mn-lt"/>
              </a:rPr>
              <a:t>Licenza media o inferiore: OR = 0,52; p-</a:t>
            </a:r>
            <a:r>
              <a:rPr lang="it-IT" dirty="0" err="1">
                <a:latin typeface="+mn-lt"/>
              </a:rPr>
              <a:t>value</a:t>
            </a:r>
            <a:r>
              <a:rPr lang="it-IT" dirty="0">
                <a:latin typeface="+mn-lt"/>
              </a:rPr>
              <a:t> &lt; 0,001</a:t>
            </a:r>
          </a:p>
          <a:p>
            <a:pPr lvl="1" algn="just">
              <a:lnSpc>
                <a:spcPct val="100000"/>
              </a:lnSpc>
              <a:spcBef>
                <a:spcPts val="0"/>
              </a:spcBef>
            </a:pPr>
            <a:r>
              <a:rPr lang="it-IT" dirty="0">
                <a:latin typeface="+mn-lt"/>
              </a:rPr>
              <a:t>Diploma: OR = 0,76; p-</a:t>
            </a:r>
            <a:r>
              <a:rPr lang="it-IT" dirty="0" err="1">
                <a:latin typeface="+mn-lt"/>
              </a:rPr>
              <a:t>value</a:t>
            </a:r>
            <a:r>
              <a:rPr lang="it-IT" dirty="0">
                <a:latin typeface="+mn-lt"/>
              </a:rPr>
              <a:t> &lt; 0,001</a:t>
            </a:r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endParaRPr lang="it-IT" sz="2000" dirty="0">
              <a:latin typeface="+mn-lt"/>
            </a:endParaRPr>
          </a:p>
        </p:txBody>
      </p:sp>
      <p:sp>
        <p:nvSpPr>
          <p:cNvPr id="4" name="Titolo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Risultati</a:t>
            </a:r>
          </a:p>
        </p:txBody>
      </p:sp>
      <p:graphicFrame>
        <p:nvGraphicFramePr>
          <p:cNvPr id="6" name="Tabella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94039096"/>
              </p:ext>
            </p:extLst>
          </p:nvPr>
        </p:nvGraphicFramePr>
        <p:xfrm>
          <a:off x="744464" y="2014810"/>
          <a:ext cx="11044701" cy="2272365"/>
        </p:xfrm>
        <a:graphic>
          <a:graphicData uri="http://schemas.openxmlformats.org/drawingml/2006/table">
            <a:tbl>
              <a:tblPr firstRow="1" bandRow="1">
                <a:tableStyleId>{8799B23B-EC83-4686-B30A-512413B5E67A}</a:tableStyleId>
              </a:tblPr>
              <a:tblGrid>
                <a:gridCol w="197393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1415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1415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1415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1415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81415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870917"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it-IT" sz="1400" kern="100" dirty="0">
                          <a:effectLst/>
                        </a:rPr>
                        <a:t>                  Coorte dell’unione</a:t>
                      </a:r>
                    </a:p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it-IT" sz="1400" kern="100" dirty="0">
                          <a:effectLst/>
                        </a:rPr>
                        <a:t> </a:t>
                      </a: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it-IT" sz="1400" kern="100" dirty="0">
                          <a:effectLst/>
                        </a:rPr>
                        <a:t>Livello di istruzione</a:t>
                      </a:r>
                      <a:endParaRPr lang="it-IT" sz="1400" kern="100" dirty="0">
                        <a:effectLst/>
                        <a:latin typeface="Aptos"/>
                        <a:ea typeface="Aptos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it-IT" sz="1400" kern="100" dirty="0">
                          <a:effectLst/>
                        </a:rPr>
                        <a:t>Fino al 1970</a:t>
                      </a:r>
                      <a:endParaRPr lang="it-IT" sz="1400" kern="100" dirty="0">
                        <a:effectLst/>
                        <a:latin typeface="Aptos"/>
                        <a:ea typeface="Aptos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it-IT" sz="1400" kern="100" dirty="0">
                          <a:effectLst/>
                        </a:rPr>
                        <a:t>1971-1980</a:t>
                      </a:r>
                      <a:endParaRPr lang="it-IT" sz="1400" kern="100" dirty="0">
                        <a:effectLst/>
                        <a:latin typeface="Aptos"/>
                        <a:ea typeface="Aptos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it-IT" sz="1400" kern="100">
                          <a:effectLst/>
                        </a:rPr>
                        <a:t>1981-1990</a:t>
                      </a:r>
                      <a:endParaRPr lang="it-IT" sz="1400" kern="100">
                        <a:effectLst/>
                        <a:latin typeface="Aptos"/>
                        <a:ea typeface="Aptos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it-IT" sz="1400" kern="100">
                          <a:effectLst/>
                        </a:rPr>
                        <a:t>1991-2000</a:t>
                      </a:r>
                      <a:endParaRPr lang="it-IT" sz="1400" kern="100">
                        <a:effectLst/>
                        <a:latin typeface="Aptos"/>
                        <a:ea typeface="Aptos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it-IT" sz="1400" kern="100">
                          <a:effectLst/>
                        </a:rPr>
                        <a:t>Dal 2001 in poi</a:t>
                      </a:r>
                      <a:endParaRPr lang="it-IT" sz="1400" kern="100">
                        <a:effectLst/>
                        <a:latin typeface="Aptos"/>
                        <a:ea typeface="Aptos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5830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it-IT" sz="1400" b="1" kern="100" dirty="0">
                          <a:effectLst/>
                        </a:rPr>
                        <a:t>Licenza media o inferiore</a:t>
                      </a:r>
                      <a:endParaRPr lang="it-IT" sz="1400" b="1" kern="100" dirty="0">
                        <a:effectLst/>
                        <a:latin typeface="Aptos"/>
                        <a:ea typeface="Aptos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it-IT" sz="1400" kern="100">
                          <a:effectLst/>
                        </a:rPr>
                        <a:t>0,1017</a:t>
                      </a:r>
                      <a:endParaRPr lang="it-IT" sz="1400" kern="100">
                        <a:effectLst/>
                        <a:latin typeface="Aptos"/>
                        <a:ea typeface="Aptos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it-IT" sz="1400" kern="100" dirty="0">
                          <a:effectLst/>
                        </a:rPr>
                        <a:t>0,2670</a:t>
                      </a:r>
                      <a:endParaRPr lang="it-IT" sz="1400" kern="100" dirty="0">
                        <a:effectLst/>
                        <a:latin typeface="Aptos"/>
                        <a:ea typeface="Aptos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it-IT" sz="1400" kern="100" dirty="0">
                          <a:effectLst/>
                        </a:rPr>
                        <a:t>0,5419</a:t>
                      </a:r>
                      <a:endParaRPr lang="it-IT" sz="1400" kern="100" dirty="0">
                        <a:effectLst/>
                        <a:latin typeface="Aptos"/>
                        <a:ea typeface="Aptos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it-IT" sz="1400" kern="100">
                          <a:effectLst/>
                        </a:rPr>
                        <a:t>0,7609 </a:t>
                      </a:r>
                      <a:endParaRPr lang="it-IT" sz="1400" kern="100">
                        <a:effectLst/>
                        <a:latin typeface="Aptos"/>
                        <a:ea typeface="Aptos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it-IT" sz="1400" kern="100">
                          <a:effectLst/>
                        </a:rPr>
                        <a:t>1,1982</a:t>
                      </a:r>
                      <a:endParaRPr lang="it-IT" sz="1400" kern="100">
                        <a:effectLst/>
                        <a:latin typeface="Aptos"/>
                        <a:ea typeface="Aptos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5830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it-IT" sz="1400" b="1" kern="100" dirty="0">
                          <a:effectLst/>
                        </a:rPr>
                        <a:t>Diploma</a:t>
                      </a:r>
                      <a:endParaRPr lang="it-IT" sz="1400" b="1" kern="100" dirty="0">
                        <a:effectLst/>
                        <a:latin typeface="Aptos"/>
                        <a:ea typeface="Aptos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it-IT" sz="1400" kern="100" dirty="0">
                          <a:effectLst/>
                        </a:rPr>
                        <a:t>0,2130</a:t>
                      </a:r>
                      <a:endParaRPr lang="it-IT" sz="1400" kern="100" dirty="0">
                        <a:effectLst/>
                        <a:latin typeface="Aptos"/>
                        <a:ea typeface="Aptos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it-IT" sz="1400" kern="100" dirty="0">
                          <a:effectLst/>
                        </a:rPr>
                        <a:t>0,3702</a:t>
                      </a:r>
                      <a:endParaRPr lang="it-IT" sz="1400" kern="100" dirty="0">
                        <a:effectLst/>
                        <a:latin typeface="Aptos"/>
                        <a:ea typeface="Aptos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it-IT" sz="1400" kern="100" dirty="0">
                          <a:effectLst/>
                        </a:rPr>
                        <a:t>0,6713 </a:t>
                      </a:r>
                      <a:endParaRPr lang="it-IT" sz="1400" kern="100" dirty="0">
                        <a:effectLst/>
                        <a:latin typeface="Aptos"/>
                        <a:ea typeface="Aptos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it-IT" sz="1400" kern="100" dirty="0">
                          <a:effectLst/>
                        </a:rPr>
                        <a:t>0,7436</a:t>
                      </a:r>
                      <a:endParaRPr lang="it-IT" sz="1400" kern="100" dirty="0">
                        <a:effectLst/>
                        <a:latin typeface="Aptos"/>
                        <a:ea typeface="Aptos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it-IT" sz="1400" kern="100" dirty="0">
                          <a:effectLst/>
                        </a:rPr>
                        <a:t>1,0902 </a:t>
                      </a:r>
                      <a:endParaRPr lang="it-IT" sz="1400" kern="100" dirty="0">
                        <a:effectLst/>
                        <a:latin typeface="Aptos"/>
                        <a:ea typeface="Aptos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5830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it-IT" sz="1400" b="1" kern="100" dirty="0">
                          <a:effectLst/>
                        </a:rPr>
                        <a:t>Laurea</a:t>
                      </a:r>
                      <a:endParaRPr lang="it-IT" sz="1400" b="1" kern="100" dirty="0">
                        <a:effectLst/>
                        <a:latin typeface="Aptos"/>
                        <a:ea typeface="Aptos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it-IT" sz="1400" kern="100">
                          <a:effectLst/>
                        </a:rPr>
                        <a:t>0,1624</a:t>
                      </a:r>
                      <a:endParaRPr lang="it-IT" sz="1400" kern="100">
                        <a:effectLst/>
                        <a:latin typeface="Aptos"/>
                        <a:ea typeface="Aptos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it-IT" sz="1400" kern="100">
                          <a:effectLst/>
                        </a:rPr>
                        <a:t>0,3515</a:t>
                      </a:r>
                      <a:endParaRPr lang="it-IT" sz="1400" kern="100">
                        <a:effectLst/>
                        <a:latin typeface="Aptos"/>
                        <a:ea typeface="Aptos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it-IT" sz="1400" kern="100">
                          <a:effectLst/>
                        </a:rPr>
                        <a:t>0,4530</a:t>
                      </a:r>
                      <a:endParaRPr lang="it-IT" sz="1400" kern="100">
                        <a:effectLst/>
                        <a:latin typeface="Aptos"/>
                        <a:ea typeface="Aptos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it-IT" sz="1400" kern="100" dirty="0">
                          <a:effectLst/>
                        </a:rPr>
                        <a:t>0,6107</a:t>
                      </a:r>
                      <a:endParaRPr lang="it-IT" sz="1400" kern="100" dirty="0">
                        <a:effectLst/>
                        <a:latin typeface="Aptos"/>
                        <a:ea typeface="Aptos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it-IT" sz="1400" kern="100" dirty="0">
                          <a:effectLst/>
                        </a:rPr>
                        <a:t>1</a:t>
                      </a:r>
                      <a:endParaRPr lang="it-IT" sz="1400" kern="100" dirty="0">
                        <a:effectLst/>
                        <a:latin typeface="Aptos"/>
                        <a:ea typeface="Aptos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2242412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olo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Risultati: Gradiente d’istruzione maschile</a:t>
            </a:r>
          </a:p>
        </p:txBody>
      </p:sp>
      <p:pic>
        <p:nvPicPr>
          <p:cNvPr id="11" name="Immagine 1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22940" y="1812644"/>
            <a:ext cx="7500000" cy="45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281258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olo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Risultati: Gradiente d’istruzione femminile</a:t>
            </a:r>
          </a:p>
        </p:txBody>
      </p:sp>
      <p:pic>
        <p:nvPicPr>
          <p:cNvPr id="5" name="Immagin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22940" y="1812644"/>
            <a:ext cx="7500000" cy="45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050282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olo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Risultati: Gradiente d’istruzione per le convivenze</a:t>
            </a:r>
          </a:p>
        </p:txBody>
      </p:sp>
      <p:pic>
        <p:nvPicPr>
          <p:cNvPr id="5" name="Immagin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22940" y="1812644"/>
            <a:ext cx="7500000" cy="45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850469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olo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Risultati: Gradiente d’istruzione per i matrimoni</a:t>
            </a:r>
          </a:p>
        </p:txBody>
      </p:sp>
      <p:pic>
        <p:nvPicPr>
          <p:cNvPr id="5" name="Immagin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22940" y="1812644"/>
            <a:ext cx="7500000" cy="45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738247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testo 2"/>
          <p:cNvSpPr>
            <a:spLocks noGrp="1"/>
          </p:cNvSpPr>
          <p:nvPr>
            <p:ph type="body" sz="quarter" idx="13"/>
          </p:nvPr>
        </p:nvSpPr>
        <p:spPr>
          <a:xfrm>
            <a:off x="775869" y="1812644"/>
            <a:ext cx="10981895" cy="4470050"/>
          </a:xfrm>
        </p:spPr>
        <p:txBody>
          <a:bodyPr>
            <a:noAutofit/>
          </a:bodyPr>
          <a:lstStyle/>
          <a:p>
            <a:pPr algn="just">
              <a:lnSpc>
                <a:spcPct val="100000"/>
              </a:lnSpc>
              <a:spcBef>
                <a:spcPts val="0"/>
              </a:spcBef>
            </a:pPr>
            <a:r>
              <a:rPr lang="it-IT" sz="1600" dirty="0">
                <a:latin typeface="+mn-lt"/>
              </a:rPr>
              <a:t>L’istruzione dei genitori spiega, in parte, l’effetto dell’istruzione individuale.</a:t>
            </a:r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endParaRPr lang="it-IT" sz="1600" dirty="0">
              <a:latin typeface="+mn-lt"/>
            </a:endParaRPr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r>
              <a:rPr lang="it-IT" sz="1600" b="1" dirty="0">
                <a:latin typeface="+mn-lt"/>
              </a:rPr>
              <a:t>Evoluzione del gradiente di istruzione coerente con l’ipotesi di </a:t>
            </a:r>
            <a:r>
              <a:rPr lang="it-IT" sz="1600" b="1" dirty="0" err="1">
                <a:latin typeface="+mn-lt"/>
              </a:rPr>
              <a:t>Goode</a:t>
            </a:r>
            <a:r>
              <a:rPr lang="it-IT" sz="1600" dirty="0">
                <a:latin typeface="+mn-lt"/>
              </a:rPr>
              <a:t>:</a:t>
            </a:r>
          </a:p>
          <a:p>
            <a:pPr marL="293688" indent="-285750" algn="just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it-IT" sz="1600" dirty="0">
                <a:latin typeface="+mn-lt"/>
              </a:rPr>
              <a:t>Coorti meno recenti → gradiente positivo;</a:t>
            </a:r>
          </a:p>
          <a:p>
            <a:pPr marL="293688" indent="-285750" algn="just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it-IT" sz="1600" dirty="0">
                <a:latin typeface="+mn-lt"/>
              </a:rPr>
              <a:t>Coorti recenti → gradiente negativo (sebbene le differenze non siano significative).</a:t>
            </a:r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endParaRPr lang="it-IT" sz="1600" dirty="0">
              <a:latin typeface="+mn-lt"/>
            </a:endParaRPr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r>
              <a:rPr lang="it-IT" sz="1600" b="1" dirty="0">
                <a:latin typeface="+mn-lt"/>
              </a:rPr>
              <a:t>Differenze di genere, coerenti con la Teoria degli Equilibri Multipli</a:t>
            </a:r>
            <a:r>
              <a:rPr lang="it-IT" sz="1600" dirty="0">
                <a:latin typeface="+mn-lt"/>
              </a:rPr>
              <a:t>:</a:t>
            </a:r>
          </a:p>
          <a:p>
            <a:pPr marL="293688" indent="-285750" algn="just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it-IT" sz="1600" dirty="0">
                <a:latin typeface="+mn-lt"/>
              </a:rPr>
              <a:t>Uomini: inversione del gradiente già per la coorte 1981-1990;</a:t>
            </a:r>
          </a:p>
          <a:p>
            <a:pPr marL="293688" indent="-285750" algn="just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it-IT" sz="1600" dirty="0">
                <a:latin typeface="+mn-lt"/>
              </a:rPr>
              <a:t>Donne: cambiamento evidente solo per la coorte più recente (dal 2001 in poi).</a:t>
            </a:r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endParaRPr lang="it-IT" sz="1600" dirty="0">
              <a:latin typeface="+mn-lt"/>
            </a:endParaRPr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r>
              <a:rPr lang="it-IT" sz="1600" b="1" dirty="0">
                <a:latin typeface="+mn-lt"/>
              </a:rPr>
              <a:t>Differenze in base alla tipologia dell’unione</a:t>
            </a:r>
            <a:r>
              <a:rPr lang="it-IT" sz="1600" dirty="0">
                <a:latin typeface="+mn-lt"/>
              </a:rPr>
              <a:t>:</a:t>
            </a:r>
          </a:p>
          <a:p>
            <a:pPr marL="293688" indent="-285750" algn="just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it-IT" sz="1600" dirty="0">
                <a:latin typeface="+mn-lt"/>
              </a:rPr>
              <a:t>Convivenze: differenze tra i diversi livelli di istruzione non significative;</a:t>
            </a:r>
          </a:p>
          <a:p>
            <a:pPr marL="293688" indent="-285750" algn="just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it-IT" sz="1600" dirty="0">
                <a:latin typeface="+mn-lt"/>
              </a:rPr>
              <a:t>Matrimoni: gradiente d’istruzione coerente con il modello aggregato.</a:t>
            </a:r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endParaRPr lang="it-IT" sz="1600" dirty="0">
              <a:latin typeface="+mn-lt"/>
            </a:endParaRPr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r>
              <a:rPr lang="it-IT" sz="1600" dirty="0">
                <a:latin typeface="+mn-lt"/>
              </a:rPr>
              <a:t>Limiti dello studio:</a:t>
            </a:r>
          </a:p>
          <a:p>
            <a:pPr marL="293688" indent="-285750" algn="just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it-IT" sz="1600" dirty="0">
                <a:latin typeface="+mn-lt"/>
              </a:rPr>
              <a:t>Misurazione del tempo a rischio (annuale) </a:t>
            </a:r>
            <a:r>
              <a:rPr lang="it-IT" sz="1600" dirty="0">
                <a:latin typeface="+mn-lt"/>
                <a:sym typeface="Wingdings" panose="05000000000000000000" pitchFamily="2" charset="2"/>
              </a:rPr>
              <a:t> </a:t>
            </a:r>
            <a:r>
              <a:rPr lang="it-IT" sz="1600" dirty="0">
                <a:latin typeface="+mn-lt"/>
              </a:rPr>
              <a:t>non è possibile includere le unioni formate e sciolte nello stesso anno. Possibile sviluppo: modelli a tempo continuo con dati mensili;</a:t>
            </a:r>
          </a:p>
          <a:p>
            <a:pPr marL="293688" indent="-285750" algn="just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it-IT" sz="1600" dirty="0">
                <a:latin typeface="+mn-lt"/>
              </a:rPr>
              <a:t>Censura delle convivenze che diventano matrimonio </a:t>
            </a:r>
            <a:r>
              <a:rPr lang="it-IT" sz="1600" dirty="0">
                <a:latin typeface="+mn-lt"/>
                <a:sym typeface="Wingdings" panose="05000000000000000000" pitchFamily="2" charset="2"/>
              </a:rPr>
              <a:t> n</a:t>
            </a:r>
            <a:r>
              <a:rPr lang="it-IT" sz="1600" dirty="0">
                <a:latin typeface="+mn-lt"/>
              </a:rPr>
              <a:t>on è possibile distinguere tra percorso di consolidamento e di dissoluzione dell’unione.</a:t>
            </a:r>
          </a:p>
        </p:txBody>
      </p:sp>
      <p:sp>
        <p:nvSpPr>
          <p:cNvPr id="4" name="Titolo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Conclusioni</a:t>
            </a:r>
          </a:p>
        </p:txBody>
      </p:sp>
    </p:spTree>
    <p:extLst>
      <p:ext uri="{BB962C8B-B14F-4D97-AF65-F5344CB8AC3E}">
        <p14:creationId xmlns:p14="http://schemas.microsoft.com/office/powerpoint/2010/main" val="223418072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910108" y="2537873"/>
            <a:ext cx="9676002" cy="1325563"/>
          </a:xfrm>
        </p:spPr>
        <p:txBody>
          <a:bodyPr/>
          <a:lstStyle/>
          <a:p>
            <a:pPr algn="ctr"/>
            <a:r>
              <a:rPr lang="it-IT" dirty="0"/>
              <a:t>Grazie per l’attenzione</a:t>
            </a:r>
          </a:p>
        </p:txBody>
      </p:sp>
      <p:sp>
        <p:nvSpPr>
          <p:cNvPr id="3" name="Segnaposto numero diapositiva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6F1F60-276D-4D50-A9DC-4BB81AAB1B3F}" type="slidenum">
              <a:rPr lang="it-IT" smtClean="0"/>
              <a:t>15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64560062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2239</TotalTime>
  <Words>813</Words>
  <Application>Microsoft Office PowerPoint</Application>
  <PresentationFormat>Widescreen</PresentationFormat>
  <Paragraphs>120</Paragraphs>
  <Slides>15</Slides>
  <Notes>1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6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15</vt:i4>
      </vt:variant>
    </vt:vector>
  </HeadingPairs>
  <TitlesOfParts>
    <vt:vector size="22" baseType="lpstr">
      <vt:lpstr>Aptos</vt:lpstr>
      <vt:lpstr>Arial</vt:lpstr>
      <vt:lpstr>Calibri</vt:lpstr>
      <vt:lpstr>Calibri Light</vt:lpstr>
      <vt:lpstr>Courier New</vt:lpstr>
      <vt:lpstr>Verdana</vt:lpstr>
      <vt:lpstr>Tema di Office</vt:lpstr>
      <vt:lpstr>Istruzione e divorzio: stabilità o cambiamento? </vt:lpstr>
      <vt:lpstr>Il contesto italiano</vt:lpstr>
      <vt:lpstr>Letteratura rilevante</vt:lpstr>
      <vt:lpstr>Domande di ricerca</vt:lpstr>
      <vt:lpstr>Strategia empirica</vt:lpstr>
      <vt:lpstr>Strategia empirica</vt:lpstr>
      <vt:lpstr>Modello selezionato</vt:lpstr>
      <vt:lpstr>Assunzione di proporzionalità</vt:lpstr>
      <vt:lpstr>Risultati</vt:lpstr>
      <vt:lpstr>Risultati: Gradiente d’istruzione maschile</vt:lpstr>
      <vt:lpstr>Risultati: Gradiente d’istruzione femminile</vt:lpstr>
      <vt:lpstr>Risultati: Gradiente d’istruzione per le convivenze</vt:lpstr>
      <vt:lpstr>Risultati: Gradiente d’istruzione per i matrimoni</vt:lpstr>
      <vt:lpstr>Conclusioni</vt:lpstr>
      <vt:lpstr>Grazie per l’attenzione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Istruzione e divorzio: stabilità o cambiamento?</dc:title>
  <dc:creator>Lapo Bettarini</dc:creator>
  <cp:lastModifiedBy>Luca Solito</cp:lastModifiedBy>
  <cp:revision>74</cp:revision>
  <dcterms:created xsi:type="dcterms:W3CDTF">2025-10-09T12:34:44Z</dcterms:created>
  <dcterms:modified xsi:type="dcterms:W3CDTF">2025-12-06T14:37:09Z</dcterms:modified>
</cp:coreProperties>
</file>