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290" r:id="rId3"/>
    <p:sldId id="291" r:id="rId4"/>
    <p:sldId id="292" r:id="rId5"/>
    <p:sldId id="293" r:id="rId6"/>
    <p:sldId id="294" r:id="rId7"/>
    <p:sldId id="297" r:id="rId8"/>
    <p:sldId id="296" r:id="rId9"/>
    <p:sldId id="302" r:id="rId10"/>
    <p:sldId id="303" r:id="rId11"/>
    <p:sldId id="304" r:id="rId12"/>
    <p:sldId id="305" r:id="rId13"/>
    <p:sldId id="306" r:id="rId14"/>
    <p:sldId id="300" r:id="rId15"/>
    <p:sldId id="308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outlineViewPr>
    <p:cViewPr>
      <p:scale>
        <a:sx n="33" d="100"/>
        <a:sy n="33" d="100"/>
      </p:scale>
      <p:origin x="0" y="-9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6FA11-FF12-4F18-A8E9-3BE66362BAFB}" type="datetimeFigureOut">
              <a:rPr lang="it-IT" smtClean="0"/>
              <a:t>22/02/2026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0B72B-FC4F-4D8D-9F52-A9EC0BA74F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006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latinLnBrk="0"/>
            <a:endParaRPr lang="it-IT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11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A064-6915-4AB8-A3C1-DF6AD97F2237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49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D40AD-CEF3-4236-8A9F-0E97F2784D5E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498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8E7B-F139-47DA-ADEE-39A085DF4859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9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0CC5-745E-407B-BAA8-63C62E6DC4D7}" type="datetime1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7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73AF9-FE36-45FD-B325-939F50A960EF}" type="datetime1">
              <a:rPr lang="it-IT" smtClean="0"/>
              <a:t>22/02/2026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1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76A8-65DA-4E2D-BCB6-A92DC340B26C}" type="datetime1">
              <a:rPr lang="it-IT" smtClean="0"/>
              <a:t>22/02/2026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075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A2B6-8DF2-4F74-A195-35B5F82C36C6}" type="datetime1">
              <a:rPr lang="it-IT" smtClean="0"/>
              <a:t>22/02/2026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01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260D2-41E2-4BF4-AF15-AEE4EA2D9FE9}" type="datetime1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39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B66D-E9F5-4C23-9DF9-EA31ECCAB812}" type="datetime1">
              <a:rPr lang="it-IT" smtClean="0"/>
              <a:t>22/02/2026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79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08CA-D178-47F6-A66D-EA8729AF5D9F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81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2A79-1BB3-4436-949F-3A2E6F5B3ADA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025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F200A84E-7986-C941-8FF7-A4CA8D08C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relazione">
            <a:extLst>
              <a:ext uri="{FF2B5EF4-FFF2-40B4-BE49-F238E27FC236}">
                <a16:creationId xmlns:a16="http://schemas.microsoft.com/office/drawing/2014/main" id="{05BBF5B6-31C4-4BDC-A474-09BF69D00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068" y="2330164"/>
            <a:ext cx="10515600" cy="795080"/>
          </a:xfrm>
          <a:prstGeom prst="rect">
            <a:avLst/>
          </a:prstGeom>
        </p:spPr>
        <p:txBody>
          <a:bodyPr/>
          <a:lstStyle>
            <a:lvl1pPr>
              <a:defRPr sz="50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Titolo_Verdana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50pt</a:t>
            </a:r>
          </a:p>
        </p:txBody>
      </p:sp>
      <p:sp>
        <p:nvSpPr>
          <p:cNvPr id="9" name="Sottotitolo relazione">
            <a:extLst>
              <a:ext uri="{FF2B5EF4-FFF2-40B4-BE49-F238E27FC236}">
                <a16:creationId xmlns:a16="http://schemas.microsoft.com/office/drawing/2014/main" id="{475FD1B4-BD36-4041-A9C9-DAF49CEB8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9068" y="3247578"/>
            <a:ext cx="10515600" cy="79507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40pt</a:t>
            </a:r>
          </a:p>
        </p:txBody>
      </p:sp>
      <p:sp>
        <p:nvSpPr>
          <p:cNvPr id="11" name="Nome e cognome relatore">
            <a:extLst>
              <a:ext uri="{FF2B5EF4-FFF2-40B4-BE49-F238E27FC236}">
                <a16:creationId xmlns:a16="http://schemas.microsoft.com/office/drawing/2014/main" id="{FDB9FF1D-DAE9-4957-B599-C6B8B209B8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9619" y="4433563"/>
            <a:ext cx="6994887" cy="376437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Relatore_Verdana</a:t>
            </a:r>
            <a:r>
              <a:rPr lang="it-IT" dirty="0"/>
              <a:t> 25pt</a:t>
            </a:r>
          </a:p>
        </p:txBody>
      </p:sp>
      <p:sp>
        <p:nvSpPr>
          <p:cNvPr id="13" name="Ruolo relatore">
            <a:extLst>
              <a:ext uri="{FF2B5EF4-FFF2-40B4-BE49-F238E27FC236}">
                <a16:creationId xmlns:a16="http://schemas.microsoft.com/office/drawing/2014/main" id="{1BDCF4A3-46D7-4603-8D04-616F017FC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9617" y="4915518"/>
            <a:ext cx="7295512" cy="304988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relatore_Verdana</a:t>
            </a:r>
            <a:r>
              <a:rPr lang="it-IT" dirty="0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198476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_sol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Sfondo bianco con logo dell'Università degli Studi di Firenze e Salomone.">
            <a:extLst>
              <a:ext uri="{FF2B5EF4-FFF2-40B4-BE49-F238E27FC236}">
                <a16:creationId xmlns:a16="http://schemas.microsoft.com/office/drawing/2014/main" id="{AAF2BE35-58D0-BA41-B3DA-597B679AD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Dati generali relazione">
            <a:extLst>
              <a:ext uri="{FF2B5EF4-FFF2-40B4-BE49-F238E27FC236}">
                <a16:creationId xmlns:a16="http://schemas.microsoft.com/office/drawing/2014/main" id="{37D8B424-C818-4FA2-9F43-383AC97AD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7" y="6607580"/>
            <a:ext cx="10120335" cy="250425"/>
          </a:xfrm>
          <a:prstGeom prst="rect">
            <a:avLst/>
          </a:prstGeom>
        </p:spPr>
        <p:txBody>
          <a:bodyPr/>
          <a:lstStyle>
            <a:lvl1pPr>
              <a:buNone/>
              <a:defRPr sz="1100" b="0" i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11pt)</a:t>
            </a:r>
          </a:p>
        </p:txBody>
      </p:sp>
      <p:sp>
        <p:nvSpPr>
          <p:cNvPr id="7" name="Numero slide">
            <a:extLst>
              <a:ext uri="{FF2B5EF4-FFF2-40B4-BE49-F238E27FC236}">
                <a16:creationId xmlns:a16="http://schemas.microsoft.com/office/drawing/2014/main" id="{FA9D60FB-E0F4-46D2-B15D-4CAD34B259A1}"/>
              </a:ext>
            </a:extLst>
          </p:cNvPr>
          <p:cNvSpPr txBox="1"/>
          <p:nvPr userDrawn="1"/>
        </p:nvSpPr>
        <p:spPr>
          <a:xfrm>
            <a:off x="10399004" y="6598099"/>
            <a:ext cx="135876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fld id="{5ED436A0-D5FC-479D-9D1C-A714A6CDB9F8}" type="slidenum">
              <a:rPr lang="it-IT" sz="11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‹N›</a:t>
            </a:fld>
            <a:endParaRPr lang="it-IT" sz="1100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sto diapositiva">
            <a:extLst>
              <a:ext uri="{FF2B5EF4-FFF2-40B4-BE49-F238E27FC236}">
                <a16:creationId xmlns:a16="http://schemas.microsoft.com/office/drawing/2014/main" id="{344E0AE5-EDEF-46FF-879E-9278F8E8B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5868" y="1822125"/>
            <a:ext cx="10981895" cy="4470050"/>
          </a:xfrm>
          <a:prstGeom prst="rect">
            <a:avLst/>
          </a:prstGeom>
        </p:spPr>
        <p:txBody>
          <a:bodyPr/>
          <a:lstStyle>
            <a:lvl1pPr marL="7938" indent="0">
              <a:lnSpc>
                <a:spcPct val="150000"/>
              </a:lnSpc>
              <a:buFont typeface="Courier New" panose="02070309020205020404" pitchFamily="49" charset="0"/>
              <a:buNone/>
              <a:tabLst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Titolo diapositiva">
            <a:extLst>
              <a:ext uri="{FF2B5EF4-FFF2-40B4-BE49-F238E27FC236}">
                <a16:creationId xmlns:a16="http://schemas.microsoft.com/office/drawing/2014/main" id="{B1A728D7-4BF7-BE41-A0AF-2F9CA93A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/>
          <a:lstStyle>
            <a:lvl1pPr>
              <a:defRPr sz="2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0018804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258C3-15E7-4F55-962B-C6A247E28486}" type="datetime1">
              <a:rPr lang="it-IT" smtClean="0"/>
              <a:t>22/02/2026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2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55688C8B-20B5-944F-B9EB-AAB0D3AE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164"/>
            <a:ext cx="10515600" cy="79508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Istruzione e divorzio: stabilità o cambiamento? 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A1D192-B2AD-1940-A7A8-A8A832120CD8}"/>
              </a:ext>
            </a:extLst>
          </p:cNvPr>
          <p:cNvSpPr txBox="1"/>
          <p:nvPr/>
        </p:nvSpPr>
        <p:spPr>
          <a:xfrm>
            <a:off x="2016197" y="4354286"/>
            <a:ext cx="815960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5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Lapo Bettarini e Luca Solito</a:t>
            </a:r>
          </a:p>
        </p:txBody>
      </p:sp>
    </p:spTree>
    <p:extLst>
      <p:ext uri="{BB962C8B-B14F-4D97-AF65-F5344CB8AC3E}">
        <p14:creationId xmlns:p14="http://schemas.microsoft.com/office/powerpoint/2010/main" val="325671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Teoria della Seconda Transizione Demografica (</a:t>
            </a:r>
            <a:r>
              <a:rPr lang="it-IT" sz="2000" dirty="0" err="1">
                <a:latin typeface="+mn-lt"/>
              </a:rPr>
              <a:t>Lesthaeghe</a:t>
            </a:r>
            <a:r>
              <a:rPr lang="it-IT" sz="2000" dirty="0">
                <a:latin typeface="+mn-lt"/>
              </a:rPr>
              <a:t> e Van de </a:t>
            </a:r>
            <a:r>
              <a:rPr lang="it-IT" sz="2000" dirty="0" err="1">
                <a:latin typeface="+mn-lt"/>
              </a:rPr>
              <a:t>Kaa</a:t>
            </a:r>
            <a:r>
              <a:rPr lang="it-IT" sz="2000" dirty="0">
                <a:latin typeface="+mn-lt"/>
              </a:rPr>
              <a:t>): l’aumento dei divorzi nasce da cambiamenti culturali e valoriali che iniziano tra le avanguardie sociali, in particolare tra i più istruiti.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b="1" dirty="0">
                <a:latin typeface="+mn-lt"/>
              </a:rPr>
              <a:t>Ritardo dell’Italia rispetto all’Europa occidentale</a:t>
            </a:r>
            <a:r>
              <a:rPr lang="it-IT" sz="2000" dirty="0">
                <a:latin typeface="+mn-lt"/>
              </a:rPr>
              <a:t>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Divorzio introdotto solo nel 1970.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Crescita più stabile e marcata solo da metà anni ’90: dal 1995 al 2010 il tasso di divorzio raddoppia, da 80 a quasi 180 divorzi ogni 1000 matrimoni.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Boom nel 2015: semplificazione degli scioglimenti consensuali e «divorzio breve».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Cause del ritardo: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Influenza della Chiesa cattolica.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Importanza della famiglia tradizionale. </a:t>
            </a:r>
          </a:p>
          <a:p>
            <a:pPr marL="457200" lvl="1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0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it-IT" sz="2000" dirty="0">
                <a:latin typeface="+mn-lt"/>
              </a:rPr>
              <a:t>l’Italia rimane uno dei Paesi occidentali con i tassi più contenuti di separazioni e divorzi.</a:t>
            </a:r>
          </a:p>
          <a:p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Il contesto italiano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265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Ipotesi di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Goode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, 1970: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Identifica chi sono i «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pioneri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» del divorzio e la sua evoluzione temporale tramite il gradiente d’istruzione.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In contesti con forti barriere economiche, sociali e legali al divorzio 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gradiente d’istruzione positivo.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Quando le barriere si riducono e il divorzio diventa più diffuso 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it-IT" sz="2000" b="1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inversione del gradiente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0" algn="just">
              <a:lnSpc>
                <a:spcPct val="130000"/>
              </a:lnSpc>
              <a:spcBef>
                <a:spcPts val="0"/>
              </a:spcBef>
            </a:pPr>
            <a:endParaRPr lang="it-IT" sz="2000" dirty="0">
              <a:latin typeface="+mn-lt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 err="1">
                <a:latin typeface="+mn-lt"/>
                <a:cs typeface="Arial" panose="020B0604020202020204" pitchFamily="34" charset="0"/>
              </a:rPr>
              <a:t>Härkönen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 e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Dronkers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, 2006: 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Conferma dell’ipotesi di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Goode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: negli anni ‘90, il gradiente d’istruzione in Italia è ancora positivo.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endParaRPr lang="it-IT" sz="2000" dirty="0">
              <a:latin typeface="+mn-lt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Teoria degli Equilibri Multipli (</a:t>
            </a:r>
            <a:r>
              <a:rPr lang="it-IT" sz="2000" dirty="0" err="1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Esping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-Andersen e </a:t>
            </a:r>
            <a:r>
              <a:rPr lang="it-IT" sz="2000" dirty="0" err="1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Billari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 2015):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Equilibrio tradizionale  Equilibrio instabile  Equilibrio fondato sulla parità di genere.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Letteratura rilevante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881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algn="just">
              <a:lnSpc>
                <a:spcPct val="100000"/>
              </a:lnSpc>
              <a:spcBef>
                <a:spcPts val="0"/>
              </a:spcBef>
            </a:pPr>
            <a:r>
              <a:rPr lang="it-IT" sz="2400" dirty="0">
                <a:latin typeface="+mn-lt"/>
              </a:rPr>
              <a:t>Obiettivo principale: analizzare l’evoluzione del legame tra istruzione e rottura dalla prima unione in Italia.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Il gradiente d’istruzione alla separazione dalla prima unione è rimasto stabile nel tempo o ha subito un’inversione nelle coorti più giovani?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Esistono differenze di genere nella relazione tra istruzione e stabilità della prima unione?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La tipologia della prima unione (convivenza vs matrimonio) condiziona il legame tra istruzione e separazione?</a:t>
            </a:r>
          </a:p>
          <a:p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Domande di ricerca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640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La </a:t>
            </a:r>
            <a:r>
              <a:rPr lang="it-IT" b="1" dirty="0">
                <a:latin typeface="+mn-lt"/>
              </a:rPr>
              <a:t>variabile evento </a:t>
            </a:r>
            <a:r>
              <a:rPr lang="it-IT" dirty="0">
                <a:latin typeface="+mn-lt"/>
              </a:rPr>
              <a:t>è </a:t>
            </a:r>
            <a:r>
              <a:rPr lang="it-IT" i="1" dirty="0">
                <a:latin typeface="+mn-lt"/>
              </a:rPr>
              <a:t>SEP </a:t>
            </a:r>
            <a:r>
              <a:rPr lang="it-IT" dirty="0">
                <a:latin typeface="+mn-lt"/>
                <a:sym typeface="Wingdings" panose="05000000000000000000" pitchFamily="2" charset="2"/>
              </a:rPr>
              <a:t> separazione </a:t>
            </a:r>
            <a:r>
              <a:rPr lang="it-IT" dirty="0">
                <a:latin typeface="+mn-lt"/>
              </a:rPr>
              <a:t>dalla prima unione (1 = separazione, 0 = unione ancora in corso o censurata).</a:t>
            </a:r>
          </a:p>
          <a:p>
            <a:pPr marL="465138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>
                <a:latin typeface="+mn-lt"/>
              </a:rPr>
              <a:t>Le convivenze sono censurate se ancora in corso o concluse con un matrimonio.</a:t>
            </a:r>
          </a:p>
          <a:p>
            <a:pPr marL="465138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>
                <a:latin typeface="+mn-lt"/>
              </a:rPr>
              <a:t>I matrimoni sono censurati se ancora in corso o conclusi per vedovanza.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endParaRPr lang="it-IT" dirty="0">
              <a:latin typeface="+mn-lt"/>
            </a:endParaRP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La </a:t>
            </a:r>
            <a:r>
              <a:rPr lang="it-IT" b="1" dirty="0">
                <a:latin typeface="+mn-lt"/>
              </a:rPr>
              <a:t>variabile di durata</a:t>
            </a:r>
            <a:r>
              <a:rPr lang="it-IT" dirty="0">
                <a:latin typeface="+mn-lt"/>
              </a:rPr>
              <a:t> è </a:t>
            </a:r>
            <a:r>
              <a:rPr lang="it-IT" i="1" dirty="0">
                <a:latin typeface="+mn-lt"/>
              </a:rPr>
              <a:t>DUR_UNIONE </a:t>
            </a:r>
            <a:r>
              <a:rPr lang="it-IT" dirty="0">
                <a:latin typeface="+mn-lt"/>
                <a:sym typeface="Wingdings" panose="05000000000000000000" pitchFamily="2" charset="2"/>
              </a:rPr>
              <a:t></a:t>
            </a:r>
            <a:r>
              <a:rPr lang="it-IT" dirty="0">
                <a:latin typeface="+mn-lt"/>
              </a:rPr>
              <a:t> durata (in anni) della prima unione: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Convivenza in corso: 2016 − anno d’inizio convivenza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Separazione da convivenza: anno fine convivenza − anno inizio convivenza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Matrimonio non interrotto: 2016 − anno del matrimonio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Vedovanza: anno della vedovanza − anno del matrimonio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Separazione da matrimonio: anno della separazione − anno del matrimonio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endParaRPr lang="it-IT" dirty="0">
              <a:latin typeface="+mn-lt"/>
            </a:endParaRP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u="sng" dirty="0">
                <a:solidFill>
                  <a:prstClr val="black"/>
                </a:solidFill>
                <a:latin typeface="+mn-lt"/>
              </a:rPr>
              <a:t>Campione analitico</a:t>
            </a:r>
            <a:r>
              <a:rPr lang="it-IT" dirty="0">
                <a:solidFill>
                  <a:prstClr val="black"/>
                </a:solidFill>
                <a:latin typeface="+mn-lt"/>
              </a:rPr>
              <a:t>: 17786 osservazioni (96,74% del </a:t>
            </a:r>
            <a:r>
              <a:rPr lang="it-IT" dirty="0" err="1">
                <a:solidFill>
                  <a:prstClr val="black"/>
                </a:solidFill>
                <a:latin typeface="+mn-lt"/>
              </a:rPr>
              <a:t>risk</a:t>
            </a:r>
            <a:r>
              <a:rPr lang="it-IT" dirty="0">
                <a:solidFill>
                  <a:prstClr val="black"/>
                </a:solidFill>
                <a:latin typeface="+mn-lt"/>
              </a:rPr>
              <a:t> set).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endParaRPr lang="it-IT" dirty="0">
              <a:latin typeface="+mn-lt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Strategia empirica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52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Strategia empirica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8172273" y="2346107"/>
            <a:ext cx="2012660" cy="338554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Istruzione dei genitori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775869" y="2346107"/>
            <a:ext cx="1928070" cy="33855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Coorte dell’unione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2838698" y="2346107"/>
            <a:ext cx="810935" cy="33855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Sesso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3784393" y="2346107"/>
            <a:ext cx="1934352" cy="33855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Tipologia dell’unione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5865307" y="2346107"/>
            <a:ext cx="2136799" cy="33855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Ripartizione territoriale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75869" y="4844579"/>
            <a:ext cx="2318158" cy="33855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Istruzione individuale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866775" y="4844579"/>
            <a:ext cx="2318158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Rottura dell’unione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4321322" y="4848710"/>
            <a:ext cx="2318158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Entrata nel mdl</a:t>
            </a:r>
          </a:p>
        </p:txBody>
      </p:sp>
      <p:cxnSp>
        <p:nvCxnSpPr>
          <p:cNvPr id="36" name="Connettore 2 35"/>
          <p:cNvCxnSpPr>
            <a:stCxn id="7" idx="2"/>
            <a:endCxn id="11" idx="0"/>
          </p:cNvCxnSpPr>
          <p:nvPr/>
        </p:nvCxnSpPr>
        <p:spPr>
          <a:xfrm>
            <a:off x="1739904" y="2684661"/>
            <a:ext cx="195044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>
            <a:stCxn id="8" idx="2"/>
            <a:endCxn id="11" idx="0"/>
          </p:cNvCxnSpPr>
          <p:nvPr/>
        </p:nvCxnSpPr>
        <p:spPr>
          <a:xfrm flipH="1">
            <a:off x="1934948" y="2684661"/>
            <a:ext cx="1309218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ttore 2 39"/>
          <p:cNvCxnSpPr>
            <a:stCxn id="9" idx="2"/>
            <a:endCxn id="11" idx="0"/>
          </p:cNvCxnSpPr>
          <p:nvPr/>
        </p:nvCxnSpPr>
        <p:spPr>
          <a:xfrm flipH="1">
            <a:off x="1934948" y="2684661"/>
            <a:ext cx="2816621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Connettore 2 41"/>
          <p:cNvCxnSpPr>
            <a:stCxn id="10" idx="2"/>
            <a:endCxn id="11" idx="0"/>
          </p:cNvCxnSpPr>
          <p:nvPr/>
        </p:nvCxnSpPr>
        <p:spPr>
          <a:xfrm flipH="1">
            <a:off x="1934948" y="2684661"/>
            <a:ext cx="4998759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Connettore 2 43"/>
          <p:cNvCxnSpPr>
            <a:stCxn id="6" idx="2"/>
            <a:endCxn id="11" idx="0"/>
          </p:cNvCxnSpPr>
          <p:nvPr/>
        </p:nvCxnSpPr>
        <p:spPr>
          <a:xfrm flipH="1">
            <a:off x="1934948" y="2684661"/>
            <a:ext cx="7243655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Connettore 2 45"/>
          <p:cNvCxnSpPr>
            <a:stCxn id="7" idx="2"/>
            <a:endCxn id="14" idx="0"/>
          </p:cNvCxnSpPr>
          <p:nvPr/>
        </p:nvCxnSpPr>
        <p:spPr>
          <a:xfrm>
            <a:off x="1739904" y="2684661"/>
            <a:ext cx="3740497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/>
          <p:cNvCxnSpPr>
            <a:stCxn id="8" idx="2"/>
            <a:endCxn id="14" idx="0"/>
          </p:cNvCxnSpPr>
          <p:nvPr/>
        </p:nvCxnSpPr>
        <p:spPr>
          <a:xfrm>
            <a:off x="3244166" y="2684661"/>
            <a:ext cx="2236235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nettore 2 49"/>
          <p:cNvCxnSpPr>
            <a:stCxn id="9" idx="2"/>
            <a:endCxn id="14" idx="0"/>
          </p:cNvCxnSpPr>
          <p:nvPr/>
        </p:nvCxnSpPr>
        <p:spPr>
          <a:xfrm>
            <a:off x="4751569" y="2684661"/>
            <a:ext cx="728832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Connettore 2 51"/>
          <p:cNvCxnSpPr>
            <a:stCxn id="10" idx="2"/>
            <a:endCxn id="14" idx="0"/>
          </p:cNvCxnSpPr>
          <p:nvPr/>
        </p:nvCxnSpPr>
        <p:spPr>
          <a:xfrm flipH="1">
            <a:off x="5480401" y="2684661"/>
            <a:ext cx="1453306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4" name="Connettore 2 53"/>
          <p:cNvCxnSpPr>
            <a:stCxn id="6" idx="2"/>
            <a:endCxn id="14" idx="0"/>
          </p:cNvCxnSpPr>
          <p:nvPr/>
        </p:nvCxnSpPr>
        <p:spPr>
          <a:xfrm flipH="1">
            <a:off x="5480401" y="2684661"/>
            <a:ext cx="3698202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Connettore 2 57"/>
          <p:cNvCxnSpPr>
            <a:stCxn id="8" idx="2"/>
            <a:endCxn id="13" idx="0"/>
          </p:cNvCxnSpPr>
          <p:nvPr/>
        </p:nvCxnSpPr>
        <p:spPr>
          <a:xfrm>
            <a:off x="3244166" y="2684661"/>
            <a:ext cx="5781688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nettore 2 59"/>
          <p:cNvCxnSpPr>
            <a:stCxn id="9" idx="2"/>
            <a:endCxn id="13" idx="0"/>
          </p:cNvCxnSpPr>
          <p:nvPr/>
        </p:nvCxnSpPr>
        <p:spPr>
          <a:xfrm>
            <a:off x="4751569" y="2684661"/>
            <a:ext cx="4274285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Connettore 2 61"/>
          <p:cNvCxnSpPr>
            <a:stCxn id="10" idx="2"/>
            <a:endCxn id="13" idx="0"/>
          </p:cNvCxnSpPr>
          <p:nvPr/>
        </p:nvCxnSpPr>
        <p:spPr>
          <a:xfrm>
            <a:off x="6933707" y="2684661"/>
            <a:ext cx="2092147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4" name="Connettore 2 63"/>
          <p:cNvCxnSpPr>
            <a:stCxn id="6" idx="2"/>
            <a:endCxn id="13" idx="0"/>
          </p:cNvCxnSpPr>
          <p:nvPr/>
        </p:nvCxnSpPr>
        <p:spPr>
          <a:xfrm flipH="1">
            <a:off x="9025854" y="2684661"/>
            <a:ext cx="152749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Connettore 2 65"/>
          <p:cNvCxnSpPr>
            <a:stCxn id="7" idx="2"/>
            <a:endCxn id="13" idx="0"/>
          </p:cNvCxnSpPr>
          <p:nvPr/>
        </p:nvCxnSpPr>
        <p:spPr>
          <a:xfrm>
            <a:off x="1739904" y="2684661"/>
            <a:ext cx="7285950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/>
          <p:cNvCxnSpPr>
            <a:stCxn id="11" idx="3"/>
            <a:endCxn id="14" idx="1"/>
          </p:cNvCxnSpPr>
          <p:nvPr/>
        </p:nvCxnSpPr>
        <p:spPr>
          <a:xfrm>
            <a:off x="3094027" y="5013856"/>
            <a:ext cx="1227295" cy="41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/>
          <p:cNvCxnSpPr>
            <a:stCxn id="14" idx="3"/>
            <a:endCxn id="13" idx="1"/>
          </p:cNvCxnSpPr>
          <p:nvPr/>
        </p:nvCxnSpPr>
        <p:spPr>
          <a:xfrm flipV="1">
            <a:off x="6639480" y="5013856"/>
            <a:ext cx="1227295" cy="41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8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Assunzione di proporzionalità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940" y="2110694"/>
            <a:ext cx="660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20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it-IT" dirty="0"/>
              <a:t>Modello selezionato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984" y="1963646"/>
            <a:ext cx="6600000" cy="39600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019150" y="3356038"/>
            <a:ext cx="33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Modello </a:t>
            </a:r>
            <a:r>
              <a:rPr lang="it-IT" b="1" dirty="0" err="1"/>
              <a:t>logit</a:t>
            </a:r>
            <a:r>
              <a:rPr lang="it-IT" b="1" dirty="0"/>
              <a:t> con specificazione </a:t>
            </a:r>
            <a:r>
              <a:rPr lang="it-IT" b="1" dirty="0" err="1"/>
              <a:t>piecewise</a:t>
            </a:r>
            <a:r>
              <a:rPr lang="it-IT" b="1"/>
              <a:t> del </a:t>
            </a:r>
            <a:r>
              <a:rPr lang="it-IT" b="1" dirty="0"/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327634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775868" y="4379053"/>
            <a:ext cx="10981895" cy="1913122"/>
          </a:xfrm>
        </p:spPr>
        <p:txBody>
          <a:bodyPr>
            <a:normAutofit fontScale="92500" lnSpcReduction="20000"/>
          </a:bodyPr>
          <a:lstStyle/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900" b="1" dirty="0">
                <a:latin typeface="+mn-lt"/>
              </a:rPr>
              <a:t>Istruzione dei genitori</a:t>
            </a:r>
            <a:r>
              <a:rPr lang="it-IT" sz="1900" dirty="0">
                <a:latin typeface="+mn-lt"/>
              </a:rPr>
              <a:t> </a:t>
            </a:r>
            <a:r>
              <a:rPr lang="it-IT" sz="1900" dirty="0">
                <a:latin typeface="+mn-lt"/>
                <a:sym typeface="Wingdings" panose="05000000000000000000" pitchFamily="2" charset="2"/>
              </a:rPr>
              <a:t> G</a:t>
            </a:r>
            <a:r>
              <a:rPr lang="it-IT" sz="1900" dirty="0">
                <a:latin typeface="+mn-lt"/>
              </a:rPr>
              <a:t>radiente positivo: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it-IT" sz="1900" dirty="0">
                <a:latin typeface="+mn-lt"/>
              </a:rPr>
              <a:t>Licenza media o inferiore: OR = 0,52; p-</a:t>
            </a:r>
            <a:r>
              <a:rPr lang="it-IT" sz="1900" dirty="0" err="1">
                <a:latin typeface="+mn-lt"/>
              </a:rPr>
              <a:t>value</a:t>
            </a:r>
            <a:r>
              <a:rPr lang="it-IT" sz="1900" dirty="0">
                <a:latin typeface="+mn-lt"/>
              </a:rPr>
              <a:t> &lt; 0,001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it-IT" sz="1900" dirty="0">
                <a:latin typeface="+mn-lt"/>
              </a:rPr>
              <a:t>Diploma: OR = 0,76; p-</a:t>
            </a:r>
            <a:r>
              <a:rPr lang="it-IT" sz="1900" dirty="0" err="1">
                <a:latin typeface="+mn-lt"/>
              </a:rPr>
              <a:t>value</a:t>
            </a:r>
            <a:r>
              <a:rPr lang="it-IT" sz="1900" dirty="0">
                <a:latin typeface="+mn-lt"/>
              </a:rPr>
              <a:t> &lt; 0,001</a:t>
            </a:r>
            <a:endParaRPr lang="it-IT" sz="1900" b="1" dirty="0">
              <a:latin typeface="+mn-lt"/>
            </a:endParaRP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900" b="1" dirty="0">
                <a:latin typeface="+mn-lt"/>
              </a:rPr>
              <a:t>Sesso</a:t>
            </a:r>
            <a:r>
              <a:rPr lang="it-IT" sz="1900" dirty="0">
                <a:latin typeface="+mn-lt"/>
              </a:rPr>
              <a:t>: effetto non significativo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900" b="1" dirty="0">
                <a:latin typeface="+mn-lt"/>
              </a:rPr>
              <a:t>Tipologia dell’unione</a:t>
            </a:r>
            <a:r>
              <a:rPr lang="it-IT" sz="1900" dirty="0">
                <a:latin typeface="+mn-lt"/>
              </a:rPr>
              <a:t>: rischio significativamente maggiore per le convivenze (OR = 11,14; p-</a:t>
            </a:r>
            <a:r>
              <a:rPr lang="it-IT" sz="1900" dirty="0" err="1">
                <a:latin typeface="+mn-lt"/>
              </a:rPr>
              <a:t>value</a:t>
            </a:r>
            <a:r>
              <a:rPr lang="it-IT" sz="1900" dirty="0">
                <a:latin typeface="+mn-lt"/>
              </a:rPr>
              <a:t> &lt; 0,001)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900" b="1" dirty="0">
                <a:latin typeface="+mn-lt"/>
              </a:rPr>
              <a:t>Ripartizione territoriale</a:t>
            </a:r>
            <a:r>
              <a:rPr lang="it-IT" sz="1900" dirty="0">
                <a:latin typeface="+mn-lt"/>
              </a:rPr>
              <a:t>: rischio significativamente inferiore nelle regioni meridionali (OR = 0,79; p-</a:t>
            </a:r>
            <a:r>
              <a:rPr lang="it-IT" sz="1900" dirty="0" err="1">
                <a:latin typeface="+mn-lt"/>
              </a:rPr>
              <a:t>value</a:t>
            </a:r>
            <a:r>
              <a:rPr lang="it-IT" sz="1900" dirty="0">
                <a:latin typeface="+mn-lt"/>
              </a:rPr>
              <a:t> &lt; 0,001)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900" b="1" dirty="0">
                <a:latin typeface="+mn-lt"/>
              </a:rPr>
              <a:t>Entrata nel mdl</a:t>
            </a:r>
            <a:r>
              <a:rPr lang="it-IT" sz="1900" dirty="0">
                <a:latin typeface="+mn-lt"/>
              </a:rPr>
              <a:t>: rischio marginalmente inferiore per individui che non hanno mai lavorato (OR = 0,82; p-</a:t>
            </a:r>
            <a:r>
              <a:rPr lang="it-IT" sz="1900" dirty="0" err="1">
                <a:latin typeface="+mn-lt"/>
              </a:rPr>
              <a:t>value</a:t>
            </a:r>
            <a:r>
              <a:rPr lang="it-IT" sz="1900" dirty="0">
                <a:latin typeface="+mn-lt"/>
              </a:rPr>
              <a:t> = 0,005)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</a:t>
            </a: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039096"/>
              </p:ext>
            </p:extLst>
          </p:nvPr>
        </p:nvGraphicFramePr>
        <p:xfrm>
          <a:off x="744464" y="2014810"/>
          <a:ext cx="11044701" cy="228135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7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0917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                  Coorte dell’unione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Livello di istruzione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Fino al 1970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1971-1980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1981-1990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1991-2000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Dal 2001 in poi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Licenza media o inferiore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0,1017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0,2670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0,5419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0,7609 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1,1982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Diploma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0,2130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0,3702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0,6713 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0,7436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1,0902 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Laurea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0,1624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0,3515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0,4530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0,6107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42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maschile</a:t>
            </a: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1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femminile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per le convivenze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04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per i matrimoni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82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775869" y="1812644"/>
            <a:ext cx="10981895" cy="447005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dirty="0">
                <a:latin typeface="+mn-lt"/>
              </a:rPr>
              <a:t>L’istruzione dei genitori spiega, in parte, l’effetto dell’istruzione individuale.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Evoluzione del gradiente di istruzione coerente con l’ipotesi di </a:t>
            </a:r>
            <a:r>
              <a:rPr lang="it-IT" sz="1600" b="1" dirty="0" err="1">
                <a:latin typeface="+mn-lt"/>
              </a:rPr>
              <a:t>Goode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Coorti meno recenti → gradiente positivo;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Coorti recenti → gradiente negativo (sebbene le differenze non siano significative).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In merito alle differenze di genere, risultati coerenti con la Teoria degli Equilibri Multipli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Uomini: inversione del gradiente già per la coorte 1981-1990;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Donne: cambiamento evidente solo per la coorte più recente (dal 2001 in poi).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Differenze in base alla tipologia dell’unione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Convivenze: differenze tra i diversi livelli di istruzione non significative;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Matrimoni: gradiente d’istruzione coerente con il modello aggregato.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dirty="0">
                <a:latin typeface="+mn-lt"/>
              </a:rPr>
              <a:t>Limiti dello studio: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Misurazione del tempo a rischio (annuale) </a:t>
            </a:r>
            <a:r>
              <a:rPr lang="it-IT" sz="16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it-IT" sz="1600" dirty="0">
                <a:latin typeface="+mn-lt"/>
              </a:rPr>
              <a:t>non è stato possibile includere le unioni formate e sciolte nello stesso anno. Possibile sviluppo: modelli a tempo continuo con dati mensili.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Censura delle convivenze che diventano matrimoni </a:t>
            </a:r>
            <a:r>
              <a:rPr lang="it-IT" sz="1600" dirty="0">
                <a:latin typeface="+mn-lt"/>
                <a:sym typeface="Wingdings" panose="05000000000000000000" pitchFamily="2" charset="2"/>
              </a:rPr>
              <a:t> n</a:t>
            </a:r>
            <a:r>
              <a:rPr lang="it-IT" sz="1600" dirty="0">
                <a:latin typeface="+mn-lt"/>
              </a:rPr>
              <a:t>on è stato possibile distinguere tra percorso di consolidamento e di dissoluzione dell’unione.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234180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3936000" y="3069000"/>
            <a:ext cx="4370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021354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</TotalTime>
  <Words>818</Words>
  <Application>Microsoft Office PowerPoint</Application>
  <PresentationFormat>Widescreen</PresentationFormat>
  <Paragraphs>113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Courier New</vt:lpstr>
      <vt:lpstr>Verdana</vt:lpstr>
      <vt:lpstr>Tema di Office</vt:lpstr>
      <vt:lpstr>Istruzione e divorzio: stabilità o cambiamento? </vt:lpstr>
      <vt:lpstr>Il contesto italiano</vt:lpstr>
      <vt:lpstr>Letteratura rilevante</vt:lpstr>
      <vt:lpstr>Domande di ricerca</vt:lpstr>
      <vt:lpstr>Strategia empirica</vt:lpstr>
      <vt:lpstr>Strategia empirica</vt:lpstr>
      <vt:lpstr>Assunzione di proporzionalità</vt:lpstr>
      <vt:lpstr>Modello selezionato</vt:lpstr>
      <vt:lpstr>Risultati</vt:lpstr>
      <vt:lpstr>Risultati: Gradiente d’istruzione maschile</vt:lpstr>
      <vt:lpstr>Risultati: Gradiente d’istruzione femminile</vt:lpstr>
      <vt:lpstr>Risultati: Gradiente d’istruzione per le convivenze</vt:lpstr>
      <vt:lpstr>Risultati: Gradiente d’istruzione per i matrimoni</vt:lpstr>
      <vt:lpstr>Conclusioni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Istruzione e divorzio: stabilità o cambiamento?</dc:title>
  <dc:creator>Lapo Bettarini</dc:creator>
  <cp:lastModifiedBy>Luca Solito</cp:lastModifiedBy>
  <cp:revision>91</cp:revision>
  <dcterms:created xsi:type="dcterms:W3CDTF">2025-10-09T12:34:44Z</dcterms:created>
  <dcterms:modified xsi:type="dcterms:W3CDTF">2026-02-22T14:56:48Z</dcterms:modified>
</cp:coreProperties>
</file>